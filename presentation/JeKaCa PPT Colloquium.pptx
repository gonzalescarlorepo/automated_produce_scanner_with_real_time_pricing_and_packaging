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chivo Black" charset="1" panose="020B0A03020202020B04"/>
      <p:regular r:id="rId16"/>
    </p:embeddedFont>
    <p:embeddedFont>
      <p:font typeface="Canva Sans" charset="1" panose="020B0503030501040103"/>
      <p:regular r:id="rId17"/>
    </p:embeddedFont>
    <p:embeddedFont>
      <p:font typeface="Canva Sans Bold" charset="1" panose="020B08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1.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1.png" Type="http://schemas.openxmlformats.org/officeDocument/2006/relationships/image"/><Relationship Id="rId6"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1.png" Type="http://schemas.openxmlformats.org/officeDocument/2006/relationships/image"/><Relationship Id="rId6"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1.png" Type="http://schemas.openxmlformats.org/officeDocument/2006/relationships/image"/><Relationship Id="rId6"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1.png" Type="http://schemas.openxmlformats.org/officeDocument/2006/relationships/image"/><Relationship Id="rId6"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43A46">
                <a:alpha val="100000"/>
              </a:srgbClr>
            </a:gs>
            <a:gs pos="50000">
              <a:srgbClr val="0F4B65">
                <a:alpha val="100000"/>
              </a:srgbClr>
            </a:gs>
            <a:gs pos="100000">
              <a:srgbClr val="226C8F">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flipV="true">
            <a:off x="9490624" y="5966679"/>
            <a:ext cx="9144000" cy="4762"/>
          </a:xfrm>
          <a:prstGeom prst="line">
            <a:avLst/>
          </a:prstGeom>
          <a:ln cap="flat" w="38100">
            <a:gradFill>
              <a:gsLst>
                <a:gs pos="0">
                  <a:srgbClr val="FA7100">
                    <a:alpha val="100000"/>
                  </a:srgbClr>
                </a:gs>
                <a:gs pos="100000">
                  <a:srgbClr val="FA7100">
                    <a:alpha val="0"/>
                  </a:srgbClr>
                </a:gs>
              </a:gsLst>
              <a:lin ang="0"/>
            </a:gradFill>
            <a:prstDash val="solid"/>
            <a:headEnd type="none" len="sm" w="sm"/>
            <a:tailEnd type="none" len="sm" w="sm"/>
          </a:ln>
        </p:spPr>
      </p:sp>
      <p:sp>
        <p:nvSpPr>
          <p:cNvPr name="AutoShape 3" id="3"/>
          <p:cNvSpPr/>
          <p:nvPr/>
        </p:nvSpPr>
        <p:spPr>
          <a:xfrm flipH="true">
            <a:off x="-342920" y="5971441"/>
            <a:ext cx="9144001" cy="0"/>
          </a:xfrm>
          <a:prstGeom prst="line">
            <a:avLst/>
          </a:prstGeom>
          <a:ln cap="flat" w="38100">
            <a:gradFill>
              <a:gsLst>
                <a:gs pos="0">
                  <a:srgbClr val="FA7100">
                    <a:alpha val="100000"/>
                  </a:srgbClr>
                </a:gs>
                <a:gs pos="100000">
                  <a:srgbClr val="FA7100">
                    <a:alpha val="0"/>
                  </a:srgbClr>
                </a:gs>
              </a:gsLst>
              <a:lin ang="0"/>
            </a:gradFill>
            <a:prstDash val="solid"/>
            <a:headEnd type="none" len="sm" w="sm"/>
            <a:tailEnd type="none" len="sm" w="sm"/>
          </a:ln>
        </p:spPr>
      </p:sp>
      <p:sp>
        <p:nvSpPr>
          <p:cNvPr name="Freeform 4" id="4"/>
          <p:cNvSpPr/>
          <p:nvPr/>
        </p:nvSpPr>
        <p:spPr>
          <a:xfrm flipH="false" flipV="false" rot="0">
            <a:off x="9490614" y="-468645"/>
            <a:ext cx="14336308" cy="12414412"/>
          </a:xfrm>
          <a:custGeom>
            <a:avLst/>
            <a:gdLst/>
            <a:ahLst/>
            <a:cxnLst/>
            <a:rect r="r" b="b" t="t" l="l"/>
            <a:pathLst>
              <a:path h="12414412" w="14336308">
                <a:moveTo>
                  <a:pt x="0" y="0"/>
                </a:moveTo>
                <a:lnTo>
                  <a:pt x="14336308" y="0"/>
                </a:lnTo>
                <a:lnTo>
                  <a:pt x="14336308" y="12414412"/>
                </a:lnTo>
                <a:lnTo>
                  <a:pt x="0" y="12414412"/>
                </a:lnTo>
                <a:lnTo>
                  <a:pt x="0" y="0"/>
                </a:lnTo>
                <a:close/>
              </a:path>
            </a:pathLst>
          </a:custGeom>
          <a:blipFill>
            <a:blip r:embed="rId2">
              <a:alphaModFix amt="19999"/>
            </a:blip>
            <a:stretch>
              <a:fillRect l="0" t="0" r="0" b="0"/>
            </a:stretch>
          </a:blipFill>
        </p:spPr>
      </p:sp>
      <p:sp>
        <p:nvSpPr>
          <p:cNvPr name="Freeform 5" id="5"/>
          <p:cNvSpPr/>
          <p:nvPr/>
        </p:nvSpPr>
        <p:spPr>
          <a:xfrm flipH="false" flipV="false" rot="0">
            <a:off x="-1" y="-6148482"/>
            <a:ext cx="11514363" cy="11291982"/>
          </a:xfrm>
          <a:custGeom>
            <a:avLst/>
            <a:gdLst/>
            <a:ahLst/>
            <a:cxnLst/>
            <a:rect r="r" b="b" t="t" l="l"/>
            <a:pathLst>
              <a:path h="11291982" w="11514363">
                <a:moveTo>
                  <a:pt x="0" y="0"/>
                </a:moveTo>
                <a:lnTo>
                  <a:pt x="11514362" y="0"/>
                </a:lnTo>
                <a:lnTo>
                  <a:pt x="11514362" y="11291982"/>
                </a:lnTo>
                <a:lnTo>
                  <a:pt x="0" y="11291982"/>
                </a:lnTo>
                <a:lnTo>
                  <a:pt x="0" y="0"/>
                </a:lnTo>
                <a:close/>
              </a:path>
            </a:pathLst>
          </a:custGeom>
          <a:blipFill>
            <a:blip r:embed="rId3">
              <a:alphaModFix amt="12000"/>
            </a:blip>
            <a:stretch>
              <a:fillRect l="0" t="0" r="0" b="0"/>
            </a:stretch>
          </a:blipFill>
        </p:spPr>
      </p:sp>
      <p:sp>
        <p:nvSpPr>
          <p:cNvPr name="Freeform 6" id="6"/>
          <p:cNvSpPr/>
          <p:nvPr/>
        </p:nvSpPr>
        <p:spPr>
          <a:xfrm flipH="false" flipV="false" rot="0">
            <a:off x="-6063266" y="5038089"/>
            <a:ext cx="14430237" cy="5643193"/>
          </a:xfrm>
          <a:custGeom>
            <a:avLst/>
            <a:gdLst/>
            <a:ahLst/>
            <a:cxnLst/>
            <a:rect r="r" b="b" t="t" l="l"/>
            <a:pathLst>
              <a:path h="5643193" w="14430237">
                <a:moveTo>
                  <a:pt x="0" y="0"/>
                </a:moveTo>
                <a:lnTo>
                  <a:pt x="14430237" y="0"/>
                </a:lnTo>
                <a:lnTo>
                  <a:pt x="14430237" y="5643193"/>
                </a:lnTo>
                <a:lnTo>
                  <a:pt x="0" y="5643193"/>
                </a:lnTo>
                <a:lnTo>
                  <a:pt x="0" y="0"/>
                </a:lnTo>
                <a:close/>
              </a:path>
            </a:pathLst>
          </a:custGeom>
          <a:blipFill>
            <a:blip r:embed="rId4">
              <a:alphaModFix amt="12000"/>
            </a:blip>
            <a:stretch>
              <a:fillRect l="0" t="-21083" r="0" b="-21083"/>
            </a:stretch>
          </a:blipFill>
        </p:spPr>
      </p:sp>
      <p:sp>
        <p:nvSpPr>
          <p:cNvPr name="TextBox 7" id="7"/>
          <p:cNvSpPr txBox="true"/>
          <p:nvPr/>
        </p:nvSpPr>
        <p:spPr>
          <a:xfrm rot="0">
            <a:off x="113717" y="959556"/>
            <a:ext cx="18060566" cy="4779005"/>
          </a:xfrm>
          <a:prstGeom prst="rect">
            <a:avLst/>
          </a:prstGeom>
        </p:spPr>
        <p:txBody>
          <a:bodyPr anchor="t" rtlCol="false" tIns="0" lIns="0" bIns="0" rIns="0">
            <a:spAutoFit/>
          </a:bodyPr>
          <a:lstStyle/>
          <a:p>
            <a:pPr algn="ctr">
              <a:lnSpc>
                <a:spcPts val="12740"/>
              </a:lnSpc>
            </a:pPr>
            <a:r>
              <a:rPr lang="en-US" sz="9100">
                <a:solidFill>
                  <a:srgbClr val="F8FBFC"/>
                </a:solidFill>
                <a:latin typeface="Archivo Black"/>
                <a:ea typeface="Archivo Black"/>
                <a:cs typeface="Archivo Black"/>
                <a:sym typeface="Archivo Black"/>
              </a:rPr>
              <a:t>Automated Produce Scanner with Real - Time Pricing and Packaging</a:t>
            </a:r>
          </a:p>
        </p:txBody>
      </p:sp>
      <p:sp>
        <p:nvSpPr>
          <p:cNvPr name="TextBox 8" id="8"/>
          <p:cNvSpPr txBox="true"/>
          <p:nvPr/>
        </p:nvSpPr>
        <p:spPr>
          <a:xfrm rot="0">
            <a:off x="6645354" y="6532372"/>
            <a:ext cx="4997291" cy="2725928"/>
          </a:xfrm>
          <a:prstGeom prst="rect">
            <a:avLst/>
          </a:prstGeom>
        </p:spPr>
        <p:txBody>
          <a:bodyPr anchor="t" rtlCol="false" tIns="0" lIns="0" bIns="0" rIns="0">
            <a:spAutoFit/>
          </a:bodyPr>
          <a:lstStyle/>
          <a:p>
            <a:pPr algn="ctr">
              <a:lnSpc>
                <a:spcPts val="4395"/>
              </a:lnSpc>
            </a:pPr>
            <a:r>
              <a:rPr lang="en-US" sz="2799">
                <a:solidFill>
                  <a:srgbClr val="F8FBFC"/>
                </a:solidFill>
                <a:latin typeface="Canva Sans"/>
                <a:ea typeface="Canva Sans"/>
                <a:cs typeface="Canva Sans"/>
                <a:sym typeface="Canva Sans"/>
              </a:rPr>
              <a:t>Maria Jeni Louise Brillas</a:t>
            </a:r>
          </a:p>
          <a:p>
            <a:pPr algn="ctr">
              <a:lnSpc>
                <a:spcPts val="4395"/>
              </a:lnSpc>
            </a:pPr>
            <a:r>
              <a:rPr lang="en-US" sz="2799">
                <a:solidFill>
                  <a:srgbClr val="F8FBFC"/>
                </a:solidFill>
                <a:latin typeface="Canva Sans"/>
                <a:ea typeface="Canva Sans"/>
                <a:cs typeface="Canva Sans"/>
                <a:sym typeface="Canva Sans"/>
              </a:rPr>
              <a:t>John Carlo T. Gonzales</a:t>
            </a:r>
          </a:p>
          <a:p>
            <a:pPr algn="ctr">
              <a:lnSpc>
                <a:spcPts val="4395"/>
              </a:lnSpc>
            </a:pPr>
            <a:r>
              <a:rPr lang="en-US" sz="2799">
                <a:solidFill>
                  <a:srgbClr val="F8FBFC"/>
                </a:solidFill>
                <a:latin typeface="Canva Sans"/>
                <a:ea typeface="Canva Sans"/>
                <a:cs typeface="Canva Sans"/>
                <a:sym typeface="Canva Sans"/>
              </a:rPr>
              <a:t>Jean Rose S. Jamelano</a:t>
            </a:r>
          </a:p>
          <a:p>
            <a:pPr algn="ctr">
              <a:lnSpc>
                <a:spcPts val="4395"/>
              </a:lnSpc>
            </a:pPr>
            <a:r>
              <a:rPr lang="en-US" sz="2799">
                <a:solidFill>
                  <a:srgbClr val="F8FBFC"/>
                </a:solidFill>
                <a:latin typeface="Canva Sans"/>
                <a:ea typeface="Canva Sans"/>
                <a:cs typeface="Canva Sans"/>
                <a:sym typeface="Canva Sans"/>
              </a:rPr>
              <a:t>Jeston Roem C. Lacson</a:t>
            </a:r>
          </a:p>
          <a:p>
            <a:pPr algn="ctr">
              <a:lnSpc>
                <a:spcPts val="4395"/>
              </a:lnSpc>
            </a:pPr>
            <a:r>
              <a:rPr lang="en-US" sz="2799">
                <a:solidFill>
                  <a:srgbClr val="F8FBFC"/>
                </a:solidFill>
                <a:latin typeface="Canva Sans"/>
                <a:ea typeface="Canva Sans"/>
                <a:cs typeface="Canva Sans"/>
                <a:sym typeface="Canva Sans"/>
              </a:rPr>
              <a:t>Kane Maxine Aesha M. Magan</a:t>
            </a:r>
          </a:p>
        </p:txBody>
      </p:sp>
      <p:grpSp>
        <p:nvGrpSpPr>
          <p:cNvPr name="Group 9" id="9"/>
          <p:cNvGrpSpPr/>
          <p:nvPr/>
        </p:nvGrpSpPr>
        <p:grpSpPr>
          <a:xfrm rot="0">
            <a:off x="9054047" y="5881488"/>
            <a:ext cx="179906" cy="17990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100"/>
            </a:solidFill>
          </p:spPr>
        </p:sp>
        <p:sp>
          <p:nvSpPr>
            <p:cNvPr name="TextBox 11" id="11"/>
            <p:cNvSpPr txBox="true"/>
            <p:nvPr/>
          </p:nvSpPr>
          <p:spPr>
            <a:xfrm>
              <a:off x="76200" y="104775"/>
              <a:ext cx="660400" cy="631825"/>
            </a:xfrm>
            <a:prstGeom prst="rect">
              <a:avLst/>
            </a:prstGeom>
          </p:spPr>
          <p:txBody>
            <a:bodyPr anchor="ctr" rtlCol="false" tIns="50800" lIns="50800" bIns="50800" rIns="50800"/>
            <a:lstStyle/>
            <a:p>
              <a:pPr algn="ctr">
                <a:lnSpc>
                  <a:spcPts val="170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046">
                <a:alpha val="100000"/>
              </a:srgbClr>
            </a:gs>
            <a:gs pos="50000">
              <a:srgbClr val="0F4B65">
                <a:alpha val="100000"/>
              </a:srgbClr>
            </a:gs>
            <a:gs pos="100000">
              <a:srgbClr val="226C8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847048" y="1028700"/>
            <a:ext cx="412252" cy="160350"/>
          </a:xfrm>
          <a:custGeom>
            <a:avLst/>
            <a:gdLst/>
            <a:ahLst/>
            <a:cxnLst/>
            <a:rect r="r" b="b" t="t" l="l"/>
            <a:pathLst>
              <a:path h="160350" w="412252">
                <a:moveTo>
                  <a:pt x="0" y="0"/>
                </a:moveTo>
                <a:lnTo>
                  <a:pt x="412252" y="0"/>
                </a:lnTo>
                <a:lnTo>
                  <a:pt x="412252" y="160350"/>
                </a:lnTo>
                <a:lnTo>
                  <a:pt x="0" y="160350"/>
                </a:lnTo>
                <a:lnTo>
                  <a:pt x="0" y="0"/>
                </a:lnTo>
                <a:close/>
              </a:path>
            </a:pathLst>
          </a:custGeom>
          <a:blipFill>
            <a:blip r:embed="rId2">
              <a:extLst>
                <a:ext uri="{96DAC541-7B7A-43D3-8B79-37D633B846F1}">
                  <asvg:svgBlip xmlns:asvg="http://schemas.microsoft.com/office/drawing/2016/SVG/main" r:embed="rId3"/>
                </a:ext>
              </a:extLst>
            </a:blip>
            <a:stretch>
              <a:fillRect l="0" t="0" r="0" b="-71289"/>
            </a:stretch>
          </a:blipFill>
        </p:spPr>
      </p:sp>
      <p:sp>
        <p:nvSpPr>
          <p:cNvPr name="Freeform 3" id="3"/>
          <p:cNvSpPr/>
          <p:nvPr/>
        </p:nvSpPr>
        <p:spPr>
          <a:xfrm flipH="false" flipV="false" rot="0">
            <a:off x="-503979" y="-3625848"/>
            <a:ext cx="11340411" cy="11505792"/>
          </a:xfrm>
          <a:custGeom>
            <a:avLst/>
            <a:gdLst/>
            <a:ahLst/>
            <a:cxnLst/>
            <a:rect r="r" b="b" t="t" l="l"/>
            <a:pathLst>
              <a:path h="11505792" w="11340411">
                <a:moveTo>
                  <a:pt x="0" y="0"/>
                </a:moveTo>
                <a:lnTo>
                  <a:pt x="11340410" y="0"/>
                </a:lnTo>
                <a:lnTo>
                  <a:pt x="11340410" y="11505791"/>
                </a:lnTo>
                <a:lnTo>
                  <a:pt x="0" y="11505791"/>
                </a:lnTo>
                <a:lnTo>
                  <a:pt x="0" y="0"/>
                </a:lnTo>
                <a:close/>
              </a:path>
            </a:pathLst>
          </a:custGeom>
          <a:blipFill>
            <a:blip r:embed="rId4">
              <a:alphaModFix amt="9999"/>
            </a:blip>
            <a:stretch>
              <a:fillRect l="0" t="0" r="0" b="0"/>
            </a:stretch>
          </a:blipFill>
        </p:spPr>
      </p:sp>
      <p:sp>
        <p:nvSpPr>
          <p:cNvPr name="Freeform 4" id="4"/>
          <p:cNvSpPr/>
          <p:nvPr/>
        </p:nvSpPr>
        <p:spPr>
          <a:xfrm flipH="false" flipV="false" rot="0">
            <a:off x="8021215" y="-763063"/>
            <a:ext cx="14336308" cy="12414412"/>
          </a:xfrm>
          <a:custGeom>
            <a:avLst/>
            <a:gdLst/>
            <a:ahLst/>
            <a:cxnLst/>
            <a:rect r="r" b="b" t="t" l="l"/>
            <a:pathLst>
              <a:path h="12414412" w="14336308">
                <a:moveTo>
                  <a:pt x="0" y="0"/>
                </a:moveTo>
                <a:lnTo>
                  <a:pt x="14336308" y="0"/>
                </a:lnTo>
                <a:lnTo>
                  <a:pt x="14336308" y="12414412"/>
                </a:lnTo>
                <a:lnTo>
                  <a:pt x="0" y="12414412"/>
                </a:lnTo>
                <a:lnTo>
                  <a:pt x="0" y="0"/>
                </a:lnTo>
                <a:close/>
              </a:path>
            </a:pathLst>
          </a:custGeom>
          <a:blipFill>
            <a:blip r:embed="rId5">
              <a:alphaModFix amt="19999"/>
            </a:blip>
            <a:stretch>
              <a:fillRect l="0" t="0" r="0" b="0"/>
            </a:stretch>
          </a:blipFill>
        </p:spPr>
      </p:sp>
      <p:sp>
        <p:nvSpPr>
          <p:cNvPr name="TextBox 5" id="5"/>
          <p:cNvSpPr txBox="true"/>
          <p:nvPr/>
        </p:nvSpPr>
        <p:spPr>
          <a:xfrm rot="0">
            <a:off x="6938122" y="876300"/>
            <a:ext cx="4602536" cy="1463580"/>
          </a:xfrm>
          <a:prstGeom prst="rect">
            <a:avLst/>
          </a:prstGeom>
        </p:spPr>
        <p:txBody>
          <a:bodyPr anchor="t" rtlCol="false" tIns="0" lIns="0" bIns="0" rIns="0">
            <a:spAutoFit/>
          </a:bodyPr>
          <a:lstStyle/>
          <a:p>
            <a:pPr algn="ctr">
              <a:lnSpc>
                <a:spcPts val="12054"/>
              </a:lnSpc>
            </a:pPr>
            <a:r>
              <a:rPr lang="en-US" sz="8610" b="true">
                <a:solidFill>
                  <a:srgbClr val="F8FBFC"/>
                </a:solidFill>
                <a:latin typeface="Canva Sans Bold"/>
                <a:ea typeface="Canva Sans Bold"/>
                <a:cs typeface="Canva Sans Bold"/>
                <a:sym typeface="Canva Sans Bold"/>
              </a:rPr>
              <a:t>Abs</a:t>
            </a:r>
            <a:r>
              <a:rPr lang="en-US" b="true" sz="8610">
                <a:solidFill>
                  <a:srgbClr val="F8FBFC"/>
                </a:solidFill>
                <a:latin typeface="Canva Sans Bold"/>
                <a:ea typeface="Canva Sans Bold"/>
                <a:cs typeface="Canva Sans Bold"/>
                <a:sym typeface="Canva Sans Bold"/>
              </a:rPr>
              <a:t>tract</a:t>
            </a:r>
          </a:p>
        </p:txBody>
      </p:sp>
      <p:sp>
        <p:nvSpPr>
          <p:cNvPr name="TextBox 6" id="6"/>
          <p:cNvSpPr txBox="true"/>
          <p:nvPr/>
        </p:nvSpPr>
        <p:spPr>
          <a:xfrm rot="0">
            <a:off x="1425605" y="3114331"/>
            <a:ext cx="15627569" cy="5913121"/>
          </a:xfrm>
          <a:prstGeom prst="rect">
            <a:avLst/>
          </a:prstGeom>
        </p:spPr>
        <p:txBody>
          <a:bodyPr anchor="t" rtlCol="false" tIns="0" lIns="0" bIns="0" rIns="0">
            <a:spAutoFit/>
          </a:bodyPr>
          <a:lstStyle/>
          <a:p>
            <a:pPr algn="just">
              <a:lnSpc>
                <a:spcPts val="5879"/>
              </a:lnSpc>
            </a:pPr>
            <a:r>
              <a:rPr lang="en-US" sz="4199">
                <a:solidFill>
                  <a:srgbClr val="FFFFFF"/>
                </a:solidFill>
                <a:latin typeface="Canva Sans"/>
                <a:ea typeface="Canva Sans"/>
                <a:cs typeface="Canva Sans"/>
                <a:sym typeface="Canva Sans"/>
              </a:rPr>
              <a:t>This stu</a:t>
            </a:r>
            <a:r>
              <a:rPr lang="en-US" sz="4199">
                <a:solidFill>
                  <a:srgbClr val="FFFFFF"/>
                </a:solidFill>
                <a:latin typeface="Canva Sans"/>
                <a:ea typeface="Canva Sans"/>
                <a:cs typeface="Canva Sans"/>
                <a:sym typeface="Canva Sans"/>
              </a:rPr>
              <a:t>dy developed a low-cost automated produce scanner using Raspberry Pi and Edge Impulse to automate vegetable detection, weighing, pricing, barcode labeling, and packaging. Evaluation results showed high usability, reliability, and efficiency, while the system demonstrated accurate pricing, stable weighing performance, and reliable barcode generation for retail applications.</a:t>
            </a:r>
          </a:p>
          <a:p>
            <a:pPr algn="just">
              <a:lnSpc>
                <a:spcPts val="587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046">
                <a:alpha val="100000"/>
              </a:srgbClr>
            </a:gs>
            <a:gs pos="50000">
              <a:srgbClr val="0F4B65">
                <a:alpha val="100000"/>
              </a:srgbClr>
            </a:gs>
            <a:gs pos="100000">
              <a:srgbClr val="226C8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847048" y="1028700"/>
            <a:ext cx="412252" cy="160350"/>
          </a:xfrm>
          <a:custGeom>
            <a:avLst/>
            <a:gdLst/>
            <a:ahLst/>
            <a:cxnLst/>
            <a:rect r="r" b="b" t="t" l="l"/>
            <a:pathLst>
              <a:path h="160350" w="412252">
                <a:moveTo>
                  <a:pt x="0" y="0"/>
                </a:moveTo>
                <a:lnTo>
                  <a:pt x="412252" y="0"/>
                </a:lnTo>
                <a:lnTo>
                  <a:pt x="412252" y="160350"/>
                </a:lnTo>
                <a:lnTo>
                  <a:pt x="0" y="160350"/>
                </a:lnTo>
                <a:lnTo>
                  <a:pt x="0" y="0"/>
                </a:lnTo>
                <a:close/>
              </a:path>
            </a:pathLst>
          </a:custGeom>
          <a:blipFill>
            <a:blip r:embed="rId2">
              <a:extLst>
                <a:ext uri="{96DAC541-7B7A-43D3-8B79-37D633B846F1}">
                  <asvg:svgBlip xmlns:asvg="http://schemas.microsoft.com/office/drawing/2016/SVG/main" r:embed="rId3"/>
                </a:ext>
              </a:extLst>
            </a:blip>
            <a:stretch>
              <a:fillRect l="0" t="0" r="0" b="-71289"/>
            </a:stretch>
          </a:blipFill>
        </p:spPr>
      </p:sp>
      <p:sp>
        <p:nvSpPr>
          <p:cNvPr name="Freeform 3" id="3"/>
          <p:cNvSpPr/>
          <p:nvPr/>
        </p:nvSpPr>
        <p:spPr>
          <a:xfrm flipH="false" flipV="false" rot="0">
            <a:off x="8021215" y="-763063"/>
            <a:ext cx="14336308" cy="12414412"/>
          </a:xfrm>
          <a:custGeom>
            <a:avLst/>
            <a:gdLst/>
            <a:ahLst/>
            <a:cxnLst/>
            <a:rect r="r" b="b" t="t" l="l"/>
            <a:pathLst>
              <a:path h="12414412" w="14336308">
                <a:moveTo>
                  <a:pt x="0" y="0"/>
                </a:moveTo>
                <a:lnTo>
                  <a:pt x="14336308" y="0"/>
                </a:lnTo>
                <a:lnTo>
                  <a:pt x="14336308" y="12414412"/>
                </a:lnTo>
                <a:lnTo>
                  <a:pt x="0" y="12414412"/>
                </a:lnTo>
                <a:lnTo>
                  <a:pt x="0" y="0"/>
                </a:lnTo>
                <a:close/>
              </a:path>
            </a:pathLst>
          </a:custGeom>
          <a:blipFill>
            <a:blip r:embed="rId4">
              <a:alphaModFix amt="19999"/>
            </a:blip>
            <a:stretch>
              <a:fillRect l="0" t="0" r="0" b="0"/>
            </a:stretch>
          </a:blipFill>
        </p:spPr>
      </p:sp>
      <p:sp>
        <p:nvSpPr>
          <p:cNvPr name="Freeform 4" id="4"/>
          <p:cNvSpPr/>
          <p:nvPr/>
        </p:nvSpPr>
        <p:spPr>
          <a:xfrm flipH="false" flipV="false" rot="0">
            <a:off x="-503979" y="-3625848"/>
            <a:ext cx="11340411" cy="11505792"/>
          </a:xfrm>
          <a:custGeom>
            <a:avLst/>
            <a:gdLst/>
            <a:ahLst/>
            <a:cxnLst/>
            <a:rect r="r" b="b" t="t" l="l"/>
            <a:pathLst>
              <a:path h="11505792" w="11340411">
                <a:moveTo>
                  <a:pt x="0" y="0"/>
                </a:moveTo>
                <a:lnTo>
                  <a:pt x="11340410" y="0"/>
                </a:lnTo>
                <a:lnTo>
                  <a:pt x="11340410" y="11505791"/>
                </a:lnTo>
                <a:lnTo>
                  <a:pt x="0" y="11505791"/>
                </a:lnTo>
                <a:lnTo>
                  <a:pt x="0" y="0"/>
                </a:lnTo>
                <a:close/>
              </a:path>
            </a:pathLst>
          </a:custGeom>
          <a:blipFill>
            <a:blip r:embed="rId5">
              <a:alphaModFix amt="9999"/>
            </a:blip>
            <a:stretch>
              <a:fillRect l="0" t="0" r="0" b="0"/>
            </a:stretch>
          </a:blipFill>
        </p:spPr>
      </p:sp>
      <p:sp>
        <p:nvSpPr>
          <p:cNvPr name="TextBox 5" id="5"/>
          <p:cNvSpPr txBox="true"/>
          <p:nvPr/>
        </p:nvSpPr>
        <p:spPr>
          <a:xfrm rot="0">
            <a:off x="1425605" y="1036650"/>
            <a:ext cx="6774343" cy="1463580"/>
          </a:xfrm>
          <a:prstGeom prst="rect">
            <a:avLst/>
          </a:prstGeom>
        </p:spPr>
        <p:txBody>
          <a:bodyPr anchor="t" rtlCol="false" tIns="0" lIns="0" bIns="0" rIns="0">
            <a:spAutoFit/>
          </a:bodyPr>
          <a:lstStyle/>
          <a:p>
            <a:pPr algn="ctr">
              <a:lnSpc>
                <a:spcPts val="12054"/>
              </a:lnSpc>
            </a:pPr>
            <a:r>
              <a:rPr lang="en-US" b="true" sz="8610">
                <a:solidFill>
                  <a:srgbClr val="F8FBFC"/>
                </a:solidFill>
                <a:latin typeface="Canva Sans Bold"/>
                <a:ea typeface="Canva Sans Bold"/>
                <a:cs typeface="Canva Sans Bold"/>
                <a:sym typeface="Canva Sans Bold"/>
              </a:rPr>
              <a:t>Introduction</a:t>
            </a:r>
          </a:p>
        </p:txBody>
      </p:sp>
      <p:sp>
        <p:nvSpPr>
          <p:cNvPr name="TextBox 6" id="6"/>
          <p:cNvSpPr txBox="true"/>
          <p:nvPr/>
        </p:nvSpPr>
        <p:spPr>
          <a:xfrm rot="0">
            <a:off x="1425605" y="3589173"/>
            <a:ext cx="15627569" cy="5137405"/>
          </a:xfrm>
          <a:prstGeom prst="rect">
            <a:avLst/>
          </a:prstGeom>
        </p:spPr>
        <p:txBody>
          <a:bodyPr anchor="t" rtlCol="false" tIns="0" lIns="0" bIns="0" rIns="0">
            <a:spAutoFit/>
          </a:bodyPr>
          <a:lstStyle/>
          <a:p>
            <a:pPr algn="just">
              <a:lnSpc>
                <a:spcPts val="6887"/>
              </a:lnSpc>
            </a:pPr>
            <a:r>
              <a:rPr lang="en-US" sz="4199">
                <a:solidFill>
                  <a:srgbClr val="FFFFFF"/>
                </a:solidFill>
                <a:latin typeface="Canva Sans"/>
                <a:ea typeface="Canva Sans"/>
                <a:cs typeface="Canva Sans"/>
                <a:sym typeface="Canva Sans"/>
              </a:rPr>
              <a:t>     This stu</a:t>
            </a:r>
            <a:r>
              <a:rPr lang="en-US" sz="4199">
                <a:solidFill>
                  <a:srgbClr val="FFFFFF"/>
                </a:solidFill>
                <a:latin typeface="Canva Sans"/>
                <a:ea typeface="Canva Sans"/>
                <a:cs typeface="Canva Sans"/>
                <a:sym typeface="Canva Sans"/>
              </a:rPr>
              <a:t>dy developed an automated produce scanner that integrates image detection, weighing, real-time pricing, barcode labeling, and packaging to improve efficiency and reduce transaction errors in fresh produce retail operations in Bacolod City.</a:t>
            </a:r>
          </a:p>
          <a:p>
            <a:pPr algn="just">
              <a:lnSpc>
                <a:spcPts val="6887"/>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046">
                <a:alpha val="100000"/>
              </a:srgbClr>
            </a:gs>
            <a:gs pos="50000">
              <a:srgbClr val="0F4B65">
                <a:alpha val="100000"/>
              </a:srgbClr>
            </a:gs>
            <a:gs pos="100000">
              <a:srgbClr val="226C8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847048" y="1028700"/>
            <a:ext cx="412252" cy="160350"/>
          </a:xfrm>
          <a:custGeom>
            <a:avLst/>
            <a:gdLst/>
            <a:ahLst/>
            <a:cxnLst/>
            <a:rect r="r" b="b" t="t" l="l"/>
            <a:pathLst>
              <a:path h="160350" w="412252">
                <a:moveTo>
                  <a:pt x="0" y="0"/>
                </a:moveTo>
                <a:lnTo>
                  <a:pt x="412252" y="0"/>
                </a:lnTo>
                <a:lnTo>
                  <a:pt x="412252" y="160350"/>
                </a:lnTo>
                <a:lnTo>
                  <a:pt x="0" y="160350"/>
                </a:lnTo>
                <a:lnTo>
                  <a:pt x="0" y="0"/>
                </a:lnTo>
                <a:close/>
              </a:path>
            </a:pathLst>
          </a:custGeom>
          <a:blipFill>
            <a:blip r:embed="rId2">
              <a:extLst>
                <a:ext uri="{96DAC541-7B7A-43D3-8B79-37D633B846F1}">
                  <asvg:svgBlip xmlns:asvg="http://schemas.microsoft.com/office/drawing/2016/SVG/main" r:embed="rId3"/>
                </a:ext>
              </a:extLst>
            </a:blip>
            <a:stretch>
              <a:fillRect l="0" t="0" r="0" b="-71289"/>
            </a:stretch>
          </a:blipFill>
        </p:spPr>
      </p:sp>
      <p:sp>
        <p:nvSpPr>
          <p:cNvPr name="Freeform 3" id="3"/>
          <p:cNvSpPr/>
          <p:nvPr/>
        </p:nvSpPr>
        <p:spPr>
          <a:xfrm flipH="false" flipV="false" rot="0">
            <a:off x="-503979" y="-3625848"/>
            <a:ext cx="11340411" cy="11505792"/>
          </a:xfrm>
          <a:custGeom>
            <a:avLst/>
            <a:gdLst/>
            <a:ahLst/>
            <a:cxnLst/>
            <a:rect r="r" b="b" t="t" l="l"/>
            <a:pathLst>
              <a:path h="11505792" w="11340411">
                <a:moveTo>
                  <a:pt x="0" y="0"/>
                </a:moveTo>
                <a:lnTo>
                  <a:pt x="11340410" y="0"/>
                </a:lnTo>
                <a:lnTo>
                  <a:pt x="11340410" y="11505791"/>
                </a:lnTo>
                <a:lnTo>
                  <a:pt x="0" y="11505791"/>
                </a:lnTo>
                <a:lnTo>
                  <a:pt x="0" y="0"/>
                </a:lnTo>
                <a:close/>
              </a:path>
            </a:pathLst>
          </a:custGeom>
          <a:blipFill>
            <a:blip r:embed="rId4">
              <a:alphaModFix amt="9999"/>
            </a:blip>
            <a:stretch>
              <a:fillRect l="0" t="0" r="0" b="0"/>
            </a:stretch>
          </a:blipFill>
        </p:spPr>
      </p:sp>
      <p:sp>
        <p:nvSpPr>
          <p:cNvPr name="Freeform 4" id="4"/>
          <p:cNvSpPr/>
          <p:nvPr/>
        </p:nvSpPr>
        <p:spPr>
          <a:xfrm flipH="false" flipV="false" rot="0">
            <a:off x="8021215" y="-763063"/>
            <a:ext cx="14336308" cy="12414412"/>
          </a:xfrm>
          <a:custGeom>
            <a:avLst/>
            <a:gdLst/>
            <a:ahLst/>
            <a:cxnLst/>
            <a:rect r="r" b="b" t="t" l="l"/>
            <a:pathLst>
              <a:path h="12414412" w="14336308">
                <a:moveTo>
                  <a:pt x="0" y="0"/>
                </a:moveTo>
                <a:lnTo>
                  <a:pt x="14336308" y="0"/>
                </a:lnTo>
                <a:lnTo>
                  <a:pt x="14336308" y="12414412"/>
                </a:lnTo>
                <a:lnTo>
                  <a:pt x="0" y="12414412"/>
                </a:lnTo>
                <a:lnTo>
                  <a:pt x="0" y="0"/>
                </a:lnTo>
                <a:close/>
              </a:path>
            </a:pathLst>
          </a:custGeom>
          <a:blipFill>
            <a:blip r:embed="rId5">
              <a:alphaModFix amt="19999"/>
            </a:blip>
            <a:stretch>
              <a:fillRect l="0" t="0" r="0" b="0"/>
            </a:stretch>
          </a:blipFill>
        </p:spPr>
      </p:sp>
      <p:sp>
        <p:nvSpPr>
          <p:cNvPr name="Freeform 5" id="5"/>
          <p:cNvSpPr/>
          <p:nvPr/>
        </p:nvSpPr>
        <p:spPr>
          <a:xfrm flipH="false" flipV="false" rot="0">
            <a:off x="1408519" y="6326567"/>
            <a:ext cx="2523817" cy="2599984"/>
          </a:xfrm>
          <a:custGeom>
            <a:avLst/>
            <a:gdLst/>
            <a:ahLst/>
            <a:cxnLst/>
            <a:rect r="r" b="b" t="t" l="l"/>
            <a:pathLst>
              <a:path h="2599984" w="2523817">
                <a:moveTo>
                  <a:pt x="0" y="0"/>
                </a:moveTo>
                <a:lnTo>
                  <a:pt x="2523816" y="0"/>
                </a:lnTo>
                <a:lnTo>
                  <a:pt x="2523816" y="2599984"/>
                </a:lnTo>
                <a:lnTo>
                  <a:pt x="0" y="2599984"/>
                </a:lnTo>
                <a:lnTo>
                  <a:pt x="0" y="0"/>
                </a:lnTo>
                <a:close/>
              </a:path>
            </a:pathLst>
          </a:custGeom>
          <a:blipFill>
            <a:blip r:embed="rId6"/>
            <a:stretch>
              <a:fillRect l="0" t="0" r="-314251" b="-112071"/>
            </a:stretch>
          </a:blipFill>
        </p:spPr>
      </p:sp>
      <p:grpSp>
        <p:nvGrpSpPr>
          <p:cNvPr name="Group 6" id="6"/>
          <p:cNvGrpSpPr/>
          <p:nvPr/>
        </p:nvGrpSpPr>
        <p:grpSpPr>
          <a:xfrm rot="0">
            <a:off x="1408519" y="3020423"/>
            <a:ext cx="2523817" cy="2599984"/>
            <a:chOff x="0" y="0"/>
            <a:chExt cx="3365089" cy="3466645"/>
          </a:xfrm>
        </p:grpSpPr>
        <p:sp>
          <p:nvSpPr>
            <p:cNvPr name="Freeform 7" id="7"/>
            <p:cNvSpPr/>
            <p:nvPr/>
          </p:nvSpPr>
          <p:spPr>
            <a:xfrm flipH="false" flipV="false" rot="0">
              <a:off x="0" y="0"/>
              <a:ext cx="3365089" cy="3466645"/>
            </a:xfrm>
            <a:custGeom>
              <a:avLst/>
              <a:gdLst/>
              <a:ahLst/>
              <a:cxnLst/>
              <a:rect r="r" b="b" t="t" l="l"/>
              <a:pathLst>
                <a:path h="3466645" w="3365089">
                  <a:moveTo>
                    <a:pt x="0" y="0"/>
                  </a:moveTo>
                  <a:lnTo>
                    <a:pt x="3365089" y="0"/>
                  </a:lnTo>
                  <a:lnTo>
                    <a:pt x="3365089" y="3466645"/>
                  </a:lnTo>
                  <a:lnTo>
                    <a:pt x="0" y="3466645"/>
                  </a:lnTo>
                  <a:lnTo>
                    <a:pt x="0" y="0"/>
                  </a:lnTo>
                  <a:close/>
                </a:path>
              </a:pathLst>
            </a:custGeom>
            <a:blipFill>
              <a:blip r:embed="rId6"/>
              <a:stretch>
                <a:fillRect l="0" t="0" r="-314251" b="-112071"/>
              </a:stretch>
            </a:blipFill>
          </p:spPr>
        </p:sp>
        <p:sp>
          <p:nvSpPr>
            <p:cNvPr name="Freeform 8" id="8"/>
            <p:cNvSpPr/>
            <p:nvPr/>
          </p:nvSpPr>
          <p:spPr>
            <a:xfrm flipH="false" flipV="false" rot="0">
              <a:off x="222402" y="210950"/>
              <a:ext cx="2883441" cy="2938236"/>
            </a:xfrm>
            <a:custGeom>
              <a:avLst/>
              <a:gdLst/>
              <a:ahLst/>
              <a:cxnLst/>
              <a:rect r="r" b="b" t="t" l="l"/>
              <a:pathLst>
                <a:path h="2938236" w="2883441">
                  <a:moveTo>
                    <a:pt x="0" y="0"/>
                  </a:moveTo>
                  <a:lnTo>
                    <a:pt x="2883441" y="0"/>
                  </a:lnTo>
                  <a:lnTo>
                    <a:pt x="2883441" y="2938236"/>
                  </a:lnTo>
                  <a:lnTo>
                    <a:pt x="0" y="2938236"/>
                  </a:lnTo>
                  <a:lnTo>
                    <a:pt x="0" y="0"/>
                  </a:lnTo>
                  <a:close/>
                </a:path>
              </a:pathLst>
            </a:custGeom>
            <a:blipFill>
              <a:blip r:embed="rId7"/>
              <a:stretch>
                <a:fillRect l="-1484" t="-2913" r="-135363" b="0"/>
              </a:stretch>
            </a:blipFill>
            <a:ln w="47625" cap="rnd">
              <a:solidFill>
                <a:srgbClr val="000000"/>
              </a:solidFill>
              <a:prstDash val="solid"/>
              <a:round/>
            </a:ln>
          </p:spPr>
        </p:sp>
      </p:grpSp>
      <p:sp>
        <p:nvSpPr>
          <p:cNvPr name="Freeform 9" id="9"/>
          <p:cNvSpPr/>
          <p:nvPr/>
        </p:nvSpPr>
        <p:spPr>
          <a:xfrm flipH="false" flipV="false" rot="0">
            <a:off x="10045610" y="6191907"/>
            <a:ext cx="2588442" cy="2599984"/>
          </a:xfrm>
          <a:custGeom>
            <a:avLst/>
            <a:gdLst/>
            <a:ahLst/>
            <a:cxnLst/>
            <a:rect r="r" b="b" t="t" l="l"/>
            <a:pathLst>
              <a:path h="2599984" w="2588442">
                <a:moveTo>
                  <a:pt x="0" y="0"/>
                </a:moveTo>
                <a:lnTo>
                  <a:pt x="2588442" y="0"/>
                </a:lnTo>
                <a:lnTo>
                  <a:pt x="2588442" y="2599984"/>
                </a:lnTo>
                <a:lnTo>
                  <a:pt x="0" y="2599984"/>
                </a:lnTo>
                <a:lnTo>
                  <a:pt x="0" y="0"/>
                </a:lnTo>
                <a:close/>
              </a:path>
            </a:pathLst>
          </a:custGeom>
          <a:blipFill>
            <a:blip r:embed="rId6"/>
            <a:stretch>
              <a:fillRect l="-103859" t="0" r="-212710" b="-118718"/>
            </a:stretch>
          </a:blipFill>
        </p:spPr>
      </p:sp>
      <p:sp>
        <p:nvSpPr>
          <p:cNvPr name="Freeform 10" id="10"/>
          <p:cNvSpPr/>
          <p:nvPr/>
        </p:nvSpPr>
        <p:spPr>
          <a:xfrm flipH="false" flipV="false" rot="0">
            <a:off x="10045610" y="2844160"/>
            <a:ext cx="2636951" cy="2599984"/>
          </a:xfrm>
          <a:custGeom>
            <a:avLst/>
            <a:gdLst/>
            <a:ahLst/>
            <a:cxnLst/>
            <a:rect r="r" b="b" t="t" l="l"/>
            <a:pathLst>
              <a:path h="2599984" w="2636951">
                <a:moveTo>
                  <a:pt x="0" y="0"/>
                </a:moveTo>
                <a:lnTo>
                  <a:pt x="2636951" y="0"/>
                </a:lnTo>
                <a:lnTo>
                  <a:pt x="2636951" y="2599983"/>
                </a:lnTo>
                <a:lnTo>
                  <a:pt x="0" y="2599983"/>
                </a:lnTo>
                <a:lnTo>
                  <a:pt x="0" y="0"/>
                </a:lnTo>
                <a:close/>
              </a:path>
            </a:pathLst>
          </a:custGeom>
          <a:blipFill>
            <a:blip r:embed="rId6"/>
            <a:stretch>
              <a:fillRect l="-301766" t="0" r="-7088" b="-118690"/>
            </a:stretch>
          </a:blipFill>
        </p:spPr>
      </p:sp>
      <p:sp>
        <p:nvSpPr>
          <p:cNvPr name="TextBox 11" id="11"/>
          <p:cNvSpPr txBox="true"/>
          <p:nvPr/>
        </p:nvSpPr>
        <p:spPr>
          <a:xfrm rot="0">
            <a:off x="1408519" y="736178"/>
            <a:ext cx="4636709" cy="1463580"/>
          </a:xfrm>
          <a:prstGeom prst="rect">
            <a:avLst/>
          </a:prstGeom>
        </p:spPr>
        <p:txBody>
          <a:bodyPr anchor="t" rtlCol="false" tIns="0" lIns="0" bIns="0" rIns="0">
            <a:spAutoFit/>
          </a:bodyPr>
          <a:lstStyle/>
          <a:p>
            <a:pPr algn="ctr">
              <a:lnSpc>
                <a:spcPts val="12054"/>
              </a:lnSpc>
            </a:pPr>
            <a:r>
              <a:rPr lang="en-US" sz="8610" b="true">
                <a:solidFill>
                  <a:srgbClr val="F8FBFC"/>
                </a:solidFill>
                <a:latin typeface="Canva Sans Bold"/>
                <a:ea typeface="Canva Sans Bold"/>
                <a:cs typeface="Canva Sans Bold"/>
                <a:sym typeface="Canva Sans Bold"/>
              </a:rPr>
              <a:t>Fe</a:t>
            </a:r>
            <a:r>
              <a:rPr lang="en-US" b="true" sz="8610">
                <a:solidFill>
                  <a:srgbClr val="F8FBFC"/>
                </a:solidFill>
                <a:latin typeface="Canva Sans Bold"/>
                <a:ea typeface="Canva Sans Bold"/>
                <a:cs typeface="Canva Sans Bold"/>
                <a:sym typeface="Canva Sans Bold"/>
              </a:rPr>
              <a:t>atures</a:t>
            </a:r>
          </a:p>
        </p:txBody>
      </p:sp>
      <p:sp>
        <p:nvSpPr>
          <p:cNvPr name="TextBox 12" id="12"/>
          <p:cNvSpPr txBox="true"/>
          <p:nvPr/>
        </p:nvSpPr>
        <p:spPr>
          <a:xfrm rot="0">
            <a:off x="4195440" y="3555875"/>
            <a:ext cx="4475685" cy="1471930"/>
          </a:xfrm>
          <a:prstGeom prst="rect">
            <a:avLst/>
          </a:prstGeom>
        </p:spPr>
        <p:txBody>
          <a:bodyPr anchor="t" rtlCol="false" tIns="0" lIns="0" bIns="0" rIns="0">
            <a:spAutoFit/>
          </a:bodyPr>
          <a:lstStyle/>
          <a:p>
            <a:pPr algn="l">
              <a:lnSpc>
                <a:spcPts val="3919"/>
              </a:lnSpc>
            </a:pPr>
            <a:r>
              <a:rPr lang="en-US" sz="2799">
                <a:solidFill>
                  <a:srgbClr val="F8FBFC"/>
                </a:solidFill>
                <a:latin typeface="Canva Sans"/>
                <a:ea typeface="Canva Sans"/>
                <a:cs typeface="Canva Sans"/>
                <a:sym typeface="Canva Sans"/>
              </a:rPr>
              <a:t>Vegetable</a:t>
            </a:r>
            <a:r>
              <a:rPr lang="en-US" sz="2799">
                <a:solidFill>
                  <a:srgbClr val="F8FBFC"/>
                </a:solidFill>
                <a:latin typeface="Canva Sans"/>
                <a:ea typeface="Canva Sans"/>
                <a:cs typeface="Canva Sans"/>
                <a:sym typeface="Canva Sans"/>
              </a:rPr>
              <a:t> image detection with assorted-item error detection</a:t>
            </a:r>
          </a:p>
        </p:txBody>
      </p:sp>
      <p:sp>
        <p:nvSpPr>
          <p:cNvPr name="TextBox 13" id="13"/>
          <p:cNvSpPr txBox="true"/>
          <p:nvPr/>
        </p:nvSpPr>
        <p:spPr>
          <a:xfrm rot="0">
            <a:off x="4195440" y="6975009"/>
            <a:ext cx="4475685" cy="976630"/>
          </a:xfrm>
          <a:prstGeom prst="rect">
            <a:avLst/>
          </a:prstGeom>
        </p:spPr>
        <p:txBody>
          <a:bodyPr anchor="t" rtlCol="false" tIns="0" lIns="0" bIns="0" rIns="0">
            <a:spAutoFit/>
          </a:bodyPr>
          <a:lstStyle/>
          <a:p>
            <a:pPr algn="l">
              <a:lnSpc>
                <a:spcPts val="3919"/>
              </a:lnSpc>
            </a:pPr>
            <a:r>
              <a:rPr lang="en-US" sz="2799">
                <a:solidFill>
                  <a:srgbClr val="F8FBFC"/>
                </a:solidFill>
                <a:latin typeface="Canva Sans"/>
                <a:ea typeface="Canva Sans"/>
                <a:cs typeface="Canva Sans"/>
                <a:sym typeface="Canva Sans"/>
              </a:rPr>
              <a:t>Pr</a:t>
            </a:r>
            <a:r>
              <a:rPr lang="en-US" sz="2799">
                <a:solidFill>
                  <a:srgbClr val="F8FBFC"/>
                </a:solidFill>
                <a:latin typeface="Canva Sans"/>
                <a:ea typeface="Canva Sans"/>
                <a:cs typeface="Canva Sans"/>
                <a:sym typeface="Canva Sans"/>
              </a:rPr>
              <a:t>ecise weight sensing up to 3 kg</a:t>
            </a:r>
          </a:p>
        </p:txBody>
      </p:sp>
      <p:sp>
        <p:nvSpPr>
          <p:cNvPr name="TextBox 14" id="14"/>
          <p:cNvSpPr txBox="true"/>
          <p:nvPr/>
        </p:nvSpPr>
        <p:spPr>
          <a:xfrm rot="0">
            <a:off x="13142200" y="3379611"/>
            <a:ext cx="4475685" cy="1471930"/>
          </a:xfrm>
          <a:prstGeom prst="rect">
            <a:avLst/>
          </a:prstGeom>
        </p:spPr>
        <p:txBody>
          <a:bodyPr anchor="t" rtlCol="false" tIns="0" lIns="0" bIns="0" rIns="0">
            <a:spAutoFit/>
          </a:bodyPr>
          <a:lstStyle/>
          <a:p>
            <a:pPr algn="l">
              <a:lnSpc>
                <a:spcPts val="3919"/>
              </a:lnSpc>
            </a:pPr>
            <a:r>
              <a:rPr lang="en-US" sz="2799">
                <a:solidFill>
                  <a:srgbClr val="F8FBFC"/>
                </a:solidFill>
                <a:latin typeface="Canva Sans"/>
                <a:ea typeface="Canva Sans"/>
                <a:cs typeface="Canva Sans"/>
                <a:sym typeface="Canva Sans"/>
              </a:rPr>
              <a:t>Real-t</a:t>
            </a:r>
            <a:r>
              <a:rPr lang="en-US" sz="2799">
                <a:solidFill>
                  <a:srgbClr val="F8FBFC"/>
                </a:solidFill>
                <a:latin typeface="Canva Sans"/>
                <a:ea typeface="Canva Sans"/>
                <a:cs typeface="Canva Sans"/>
                <a:sym typeface="Canva Sans"/>
              </a:rPr>
              <a:t>ime price computation and LCD display</a:t>
            </a:r>
          </a:p>
        </p:txBody>
      </p:sp>
      <p:sp>
        <p:nvSpPr>
          <p:cNvPr name="TextBox 15" id="15"/>
          <p:cNvSpPr txBox="true"/>
          <p:nvPr/>
        </p:nvSpPr>
        <p:spPr>
          <a:xfrm rot="0">
            <a:off x="13142200" y="7042291"/>
            <a:ext cx="4475685" cy="976630"/>
          </a:xfrm>
          <a:prstGeom prst="rect">
            <a:avLst/>
          </a:prstGeom>
        </p:spPr>
        <p:txBody>
          <a:bodyPr anchor="t" rtlCol="false" tIns="0" lIns="0" bIns="0" rIns="0">
            <a:spAutoFit/>
          </a:bodyPr>
          <a:lstStyle/>
          <a:p>
            <a:pPr algn="l">
              <a:lnSpc>
                <a:spcPts val="3919"/>
              </a:lnSpc>
            </a:pPr>
            <a:r>
              <a:rPr lang="en-US" sz="2799">
                <a:solidFill>
                  <a:srgbClr val="F8FBFC"/>
                </a:solidFill>
                <a:latin typeface="Canva Sans"/>
                <a:ea typeface="Canva Sans"/>
                <a:cs typeface="Canva Sans"/>
                <a:sym typeface="Canva Sans"/>
              </a:rPr>
              <a:t>Automat</a:t>
            </a:r>
            <a:r>
              <a:rPr lang="en-US" sz="2799">
                <a:solidFill>
                  <a:srgbClr val="F8FBFC"/>
                </a:solidFill>
                <a:latin typeface="Canva Sans"/>
                <a:ea typeface="Canva Sans"/>
                <a:cs typeface="Canva Sans"/>
                <a:sym typeface="Canva Sans"/>
              </a:rPr>
              <a:t>ed heat-sealing mechanism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046">
                <a:alpha val="100000"/>
              </a:srgbClr>
            </a:gs>
            <a:gs pos="50000">
              <a:srgbClr val="0F4B65">
                <a:alpha val="100000"/>
              </a:srgbClr>
            </a:gs>
            <a:gs pos="100000">
              <a:srgbClr val="226C8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847048" y="1028700"/>
            <a:ext cx="412252" cy="160350"/>
          </a:xfrm>
          <a:custGeom>
            <a:avLst/>
            <a:gdLst/>
            <a:ahLst/>
            <a:cxnLst/>
            <a:rect r="r" b="b" t="t" l="l"/>
            <a:pathLst>
              <a:path h="160350" w="412252">
                <a:moveTo>
                  <a:pt x="0" y="0"/>
                </a:moveTo>
                <a:lnTo>
                  <a:pt x="412252" y="0"/>
                </a:lnTo>
                <a:lnTo>
                  <a:pt x="412252" y="160350"/>
                </a:lnTo>
                <a:lnTo>
                  <a:pt x="0" y="160350"/>
                </a:lnTo>
                <a:lnTo>
                  <a:pt x="0" y="0"/>
                </a:lnTo>
                <a:close/>
              </a:path>
            </a:pathLst>
          </a:custGeom>
          <a:blipFill>
            <a:blip r:embed="rId2">
              <a:extLst>
                <a:ext uri="{96DAC541-7B7A-43D3-8B79-37D633B846F1}">
                  <asvg:svgBlip xmlns:asvg="http://schemas.microsoft.com/office/drawing/2016/SVG/main" r:embed="rId3"/>
                </a:ext>
              </a:extLst>
            </a:blip>
            <a:stretch>
              <a:fillRect l="0" t="0" r="0" b="-71289"/>
            </a:stretch>
          </a:blipFill>
        </p:spPr>
      </p:sp>
      <p:sp>
        <p:nvSpPr>
          <p:cNvPr name="Freeform 3" id="3"/>
          <p:cNvSpPr/>
          <p:nvPr/>
        </p:nvSpPr>
        <p:spPr>
          <a:xfrm flipH="false" flipV="false" rot="0">
            <a:off x="-503979" y="-3625848"/>
            <a:ext cx="11340411" cy="11505792"/>
          </a:xfrm>
          <a:custGeom>
            <a:avLst/>
            <a:gdLst/>
            <a:ahLst/>
            <a:cxnLst/>
            <a:rect r="r" b="b" t="t" l="l"/>
            <a:pathLst>
              <a:path h="11505792" w="11340411">
                <a:moveTo>
                  <a:pt x="0" y="0"/>
                </a:moveTo>
                <a:lnTo>
                  <a:pt x="11340410" y="0"/>
                </a:lnTo>
                <a:lnTo>
                  <a:pt x="11340410" y="11505791"/>
                </a:lnTo>
                <a:lnTo>
                  <a:pt x="0" y="11505791"/>
                </a:lnTo>
                <a:lnTo>
                  <a:pt x="0" y="0"/>
                </a:lnTo>
                <a:close/>
              </a:path>
            </a:pathLst>
          </a:custGeom>
          <a:blipFill>
            <a:blip r:embed="rId4">
              <a:alphaModFix amt="9999"/>
            </a:blip>
            <a:stretch>
              <a:fillRect l="0" t="0" r="0" b="0"/>
            </a:stretch>
          </a:blipFill>
        </p:spPr>
      </p:sp>
      <p:sp>
        <p:nvSpPr>
          <p:cNvPr name="Freeform 4" id="4"/>
          <p:cNvSpPr/>
          <p:nvPr/>
        </p:nvSpPr>
        <p:spPr>
          <a:xfrm flipH="false" flipV="false" rot="0">
            <a:off x="8021215" y="-763063"/>
            <a:ext cx="14336308" cy="12414412"/>
          </a:xfrm>
          <a:custGeom>
            <a:avLst/>
            <a:gdLst/>
            <a:ahLst/>
            <a:cxnLst/>
            <a:rect r="r" b="b" t="t" l="l"/>
            <a:pathLst>
              <a:path h="12414412" w="14336308">
                <a:moveTo>
                  <a:pt x="0" y="0"/>
                </a:moveTo>
                <a:lnTo>
                  <a:pt x="14336308" y="0"/>
                </a:lnTo>
                <a:lnTo>
                  <a:pt x="14336308" y="12414412"/>
                </a:lnTo>
                <a:lnTo>
                  <a:pt x="0" y="12414412"/>
                </a:lnTo>
                <a:lnTo>
                  <a:pt x="0" y="0"/>
                </a:lnTo>
                <a:close/>
              </a:path>
            </a:pathLst>
          </a:custGeom>
          <a:blipFill>
            <a:blip r:embed="rId5">
              <a:alphaModFix amt="19999"/>
            </a:blip>
            <a:stretch>
              <a:fillRect l="0" t="0" r="0" b="0"/>
            </a:stretch>
          </a:blipFill>
        </p:spPr>
      </p:sp>
      <p:sp>
        <p:nvSpPr>
          <p:cNvPr name="TextBox 5" id="5"/>
          <p:cNvSpPr txBox="true"/>
          <p:nvPr/>
        </p:nvSpPr>
        <p:spPr>
          <a:xfrm rot="0">
            <a:off x="1487175" y="663467"/>
            <a:ext cx="4636709" cy="1463580"/>
          </a:xfrm>
          <a:prstGeom prst="rect">
            <a:avLst/>
          </a:prstGeom>
        </p:spPr>
        <p:txBody>
          <a:bodyPr anchor="t" rtlCol="false" tIns="0" lIns="0" bIns="0" rIns="0">
            <a:spAutoFit/>
          </a:bodyPr>
          <a:lstStyle/>
          <a:p>
            <a:pPr algn="ctr">
              <a:lnSpc>
                <a:spcPts val="12054"/>
              </a:lnSpc>
            </a:pPr>
            <a:r>
              <a:rPr lang="en-US" sz="8610" b="true">
                <a:solidFill>
                  <a:srgbClr val="F8FBFC"/>
                </a:solidFill>
                <a:latin typeface="Canva Sans Bold"/>
                <a:ea typeface="Canva Sans Bold"/>
                <a:cs typeface="Canva Sans Bold"/>
                <a:sym typeface="Canva Sans Bold"/>
              </a:rPr>
              <a:t>Features</a:t>
            </a:r>
          </a:p>
        </p:txBody>
      </p:sp>
      <p:sp>
        <p:nvSpPr>
          <p:cNvPr name="Freeform 6" id="6"/>
          <p:cNvSpPr/>
          <p:nvPr/>
        </p:nvSpPr>
        <p:spPr>
          <a:xfrm flipH="false" flipV="false" rot="0">
            <a:off x="1675491" y="6658316"/>
            <a:ext cx="3475119" cy="2599984"/>
          </a:xfrm>
          <a:custGeom>
            <a:avLst/>
            <a:gdLst/>
            <a:ahLst/>
            <a:cxnLst/>
            <a:rect r="r" b="b" t="t" l="l"/>
            <a:pathLst>
              <a:path h="2599984" w="3475119">
                <a:moveTo>
                  <a:pt x="0" y="0"/>
                </a:moveTo>
                <a:lnTo>
                  <a:pt x="3475119" y="0"/>
                </a:lnTo>
                <a:lnTo>
                  <a:pt x="3475119" y="2599984"/>
                </a:lnTo>
                <a:lnTo>
                  <a:pt x="0" y="2599984"/>
                </a:lnTo>
                <a:lnTo>
                  <a:pt x="0" y="0"/>
                </a:lnTo>
                <a:close/>
              </a:path>
            </a:pathLst>
          </a:custGeom>
          <a:blipFill>
            <a:blip r:embed="rId6"/>
            <a:stretch>
              <a:fillRect l="-246114" t="-201318" r="-126281" b="-31674"/>
            </a:stretch>
          </a:blipFill>
        </p:spPr>
      </p:sp>
      <p:sp>
        <p:nvSpPr>
          <p:cNvPr name="Freeform 7" id="7"/>
          <p:cNvSpPr/>
          <p:nvPr/>
        </p:nvSpPr>
        <p:spPr>
          <a:xfrm flipH="false" flipV="false" rot="0">
            <a:off x="1675491" y="3183128"/>
            <a:ext cx="2486235" cy="2599984"/>
          </a:xfrm>
          <a:custGeom>
            <a:avLst/>
            <a:gdLst/>
            <a:ahLst/>
            <a:cxnLst/>
            <a:rect r="r" b="b" t="t" l="l"/>
            <a:pathLst>
              <a:path h="2599984" w="2486235">
                <a:moveTo>
                  <a:pt x="0" y="0"/>
                </a:moveTo>
                <a:lnTo>
                  <a:pt x="2486235" y="0"/>
                </a:lnTo>
                <a:lnTo>
                  <a:pt x="2486235" y="2599984"/>
                </a:lnTo>
                <a:lnTo>
                  <a:pt x="0" y="2599984"/>
                </a:lnTo>
                <a:lnTo>
                  <a:pt x="0" y="0"/>
                </a:lnTo>
                <a:close/>
              </a:path>
            </a:pathLst>
          </a:custGeom>
          <a:blipFill>
            <a:blip r:embed="rId6"/>
            <a:stretch>
              <a:fillRect l="-216819" t="0" r="-116819" b="-118690"/>
            </a:stretch>
          </a:blipFill>
        </p:spPr>
      </p:sp>
      <p:sp>
        <p:nvSpPr>
          <p:cNvPr name="TextBox 8" id="8"/>
          <p:cNvSpPr txBox="true"/>
          <p:nvPr/>
        </p:nvSpPr>
        <p:spPr>
          <a:xfrm rot="0">
            <a:off x="4536156" y="3718580"/>
            <a:ext cx="4475685" cy="1471930"/>
          </a:xfrm>
          <a:prstGeom prst="rect">
            <a:avLst/>
          </a:prstGeom>
        </p:spPr>
        <p:txBody>
          <a:bodyPr anchor="t" rtlCol="false" tIns="0" lIns="0" bIns="0" rIns="0">
            <a:spAutoFit/>
          </a:bodyPr>
          <a:lstStyle/>
          <a:p>
            <a:pPr algn="l">
              <a:lnSpc>
                <a:spcPts val="3919"/>
              </a:lnSpc>
            </a:pPr>
            <a:r>
              <a:rPr lang="en-US" sz="2799">
                <a:solidFill>
                  <a:srgbClr val="F8FBFC"/>
                </a:solidFill>
                <a:latin typeface="Canva Sans"/>
                <a:ea typeface="Canva Sans"/>
                <a:cs typeface="Canva Sans"/>
                <a:sym typeface="Canva Sans"/>
              </a:rPr>
              <a:t>Barcode</a:t>
            </a:r>
            <a:r>
              <a:rPr lang="en-US" sz="2799">
                <a:solidFill>
                  <a:srgbClr val="F8FBFC"/>
                </a:solidFill>
                <a:latin typeface="Canva Sans"/>
                <a:ea typeface="Canva Sans"/>
                <a:cs typeface="Canva Sans"/>
                <a:sym typeface="Canva Sans"/>
              </a:rPr>
              <a:t> sticker generation (EAN-13 format)</a:t>
            </a:r>
          </a:p>
        </p:txBody>
      </p:sp>
      <p:sp>
        <p:nvSpPr>
          <p:cNvPr name="TextBox 9" id="9"/>
          <p:cNvSpPr txBox="true"/>
          <p:nvPr/>
        </p:nvSpPr>
        <p:spPr>
          <a:xfrm rot="0">
            <a:off x="5648968" y="7115403"/>
            <a:ext cx="4475685" cy="976630"/>
          </a:xfrm>
          <a:prstGeom prst="rect">
            <a:avLst/>
          </a:prstGeom>
        </p:spPr>
        <p:txBody>
          <a:bodyPr anchor="t" rtlCol="false" tIns="0" lIns="0" bIns="0" rIns="0">
            <a:spAutoFit/>
          </a:bodyPr>
          <a:lstStyle/>
          <a:p>
            <a:pPr algn="l">
              <a:lnSpc>
                <a:spcPts val="3919"/>
              </a:lnSpc>
            </a:pPr>
            <a:r>
              <a:rPr lang="en-US" sz="2799">
                <a:solidFill>
                  <a:srgbClr val="F8FBFC"/>
                </a:solidFill>
                <a:latin typeface="Canva Sans"/>
                <a:ea typeface="Canva Sans"/>
                <a:cs typeface="Canva Sans"/>
                <a:sym typeface="Canva Sans"/>
              </a:rPr>
              <a:t>Ad</a:t>
            </a:r>
            <a:r>
              <a:rPr lang="en-US" sz="2799">
                <a:solidFill>
                  <a:srgbClr val="F8FBFC"/>
                </a:solidFill>
                <a:latin typeface="Canva Sans"/>
                <a:ea typeface="Canva Sans"/>
                <a:cs typeface="Canva Sans"/>
                <a:sym typeface="Canva Sans"/>
              </a:rPr>
              <a:t>ministrator interface for updating prices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046">
                <a:alpha val="100000"/>
              </a:srgbClr>
            </a:gs>
            <a:gs pos="50000">
              <a:srgbClr val="0F4B65">
                <a:alpha val="100000"/>
              </a:srgbClr>
            </a:gs>
            <a:gs pos="100000">
              <a:srgbClr val="226C8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847048" y="1028700"/>
            <a:ext cx="412252" cy="160350"/>
          </a:xfrm>
          <a:custGeom>
            <a:avLst/>
            <a:gdLst/>
            <a:ahLst/>
            <a:cxnLst/>
            <a:rect r="r" b="b" t="t" l="l"/>
            <a:pathLst>
              <a:path h="160350" w="412252">
                <a:moveTo>
                  <a:pt x="0" y="0"/>
                </a:moveTo>
                <a:lnTo>
                  <a:pt x="412252" y="0"/>
                </a:lnTo>
                <a:lnTo>
                  <a:pt x="412252" y="160350"/>
                </a:lnTo>
                <a:lnTo>
                  <a:pt x="0" y="160350"/>
                </a:lnTo>
                <a:lnTo>
                  <a:pt x="0" y="0"/>
                </a:lnTo>
                <a:close/>
              </a:path>
            </a:pathLst>
          </a:custGeom>
          <a:blipFill>
            <a:blip r:embed="rId2">
              <a:extLst>
                <a:ext uri="{96DAC541-7B7A-43D3-8B79-37D633B846F1}">
                  <asvg:svgBlip xmlns:asvg="http://schemas.microsoft.com/office/drawing/2016/SVG/main" r:embed="rId3"/>
                </a:ext>
              </a:extLst>
            </a:blip>
            <a:stretch>
              <a:fillRect l="0" t="0" r="0" b="-71289"/>
            </a:stretch>
          </a:blipFill>
        </p:spPr>
      </p:sp>
      <p:sp>
        <p:nvSpPr>
          <p:cNvPr name="Freeform 3" id="3"/>
          <p:cNvSpPr/>
          <p:nvPr/>
        </p:nvSpPr>
        <p:spPr>
          <a:xfrm flipH="false" flipV="false" rot="0">
            <a:off x="-503979" y="-3625848"/>
            <a:ext cx="11340411" cy="11505792"/>
          </a:xfrm>
          <a:custGeom>
            <a:avLst/>
            <a:gdLst/>
            <a:ahLst/>
            <a:cxnLst/>
            <a:rect r="r" b="b" t="t" l="l"/>
            <a:pathLst>
              <a:path h="11505792" w="11340411">
                <a:moveTo>
                  <a:pt x="0" y="0"/>
                </a:moveTo>
                <a:lnTo>
                  <a:pt x="11340410" y="0"/>
                </a:lnTo>
                <a:lnTo>
                  <a:pt x="11340410" y="11505791"/>
                </a:lnTo>
                <a:lnTo>
                  <a:pt x="0" y="11505791"/>
                </a:lnTo>
                <a:lnTo>
                  <a:pt x="0" y="0"/>
                </a:lnTo>
                <a:close/>
              </a:path>
            </a:pathLst>
          </a:custGeom>
          <a:blipFill>
            <a:blip r:embed="rId4">
              <a:alphaModFix amt="9999"/>
            </a:blip>
            <a:stretch>
              <a:fillRect l="0" t="0" r="0" b="0"/>
            </a:stretch>
          </a:blipFill>
        </p:spPr>
      </p:sp>
      <p:sp>
        <p:nvSpPr>
          <p:cNvPr name="Freeform 4" id="4"/>
          <p:cNvSpPr/>
          <p:nvPr/>
        </p:nvSpPr>
        <p:spPr>
          <a:xfrm flipH="false" flipV="false" rot="0">
            <a:off x="8021215" y="-763063"/>
            <a:ext cx="14336308" cy="12414412"/>
          </a:xfrm>
          <a:custGeom>
            <a:avLst/>
            <a:gdLst/>
            <a:ahLst/>
            <a:cxnLst/>
            <a:rect r="r" b="b" t="t" l="l"/>
            <a:pathLst>
              <a:path h="12414412" w="14336308">
                <a:moveTo>
                  <a:pt x="0" y="0"/>
                </a:moveTo>
                <a:lnTo>
                  <a:pt x="14336308" y="0"/>
                </a:lnTo>
                <a:lnTo>
                  <a:pt x="14336308" y="12414412"/>
                </a:lnTo>
                <a:lnTo>
                  <a:pt x="0" y="12414412"/>
                </a:lnTo>
                <a:lnTo>
                  <a:pt x="0" y="0"/>
                </a:lnTo>
                <a:close/>
              </a:path>
            </a:pathLst>
          </a:custGeom>
          <a:blipFill>
            <a:blip r:embed="rId5">
              <a:alphaModFix amt="19999"/>
            </a:blip>
            <a:stretch>
              <a:fillRect l="0" t="0" r="0" b="0"/>
            </a:stretch>
          </a:blipFill>
        </p:spPr>
      </p:sp>
      <p:sp>
        <p:nvSpPr>
          <p:cNvPr name="Freeform 5" id="5"/>
          <p:cNvSpPr/>
          <p:nvPr/>
        </p:nvSpPr>
        <p:spPr>
          <a:xfrm flipH="false" flipV="false" rot="0">
            <a:off x="1502704" y="3680317"/>
            <a:ext cx="2123582" cy="2468011"/>
          </a:xfrm>
          <a:custGeom>
            <a:avLst/>
            <a:gdLst/>
            <a:ahLst/>
            <a:cxnLst/>
            <a:rect r="r" b="b" t="t" l="l"/>
            <a:pathLst>
              <a:path h="2468011" w="2123582">
                <a:moveTo>
                  <a:pt x="0" y="0"/>
                </a:moveTo>
                <a:lnTo>
                  <a:pt x="2123582" y="0"/>
                </a:lnTo>
                <a:lnTo>
                  <a:pt x="2123582" y="2468011"/>
                </a:lnTo>
                <a:lnTo>
                  <a:pt x="0" y="2468011"/>
                </a:lnTo>
                <a:lnTo>
                  <a:pt x="0" y="0"/>
                </a:lnTo>
                <a:close/>
              </a:path>
            </a:pathLst>
          </a:custGeom>
          <a:blipFill>
            <a:blip r:embed="rId6"/>
            <a:stretch>
              <a:fillRect l="-35440" t="-81040" r="-466140" b="-101300"/>
            </a:stretch>
          </a:blipFill>
        </p:spPr>
      </p:sp>
      <p:sp>
        <p:nvSpPr>
          <p:cNvPr name="Freeform 6" id="6"/>
          <p:cNvSpPr/>
          <p:nvPr/>
        </p:nvSpPr>
        <p:spPr>
          <a:xfrm flipH="false" flipV="false" rot="0">
            <a:off x="4770947" y="3680317"/>
            <a:ext cx="2105607" cy="2468011"/>
          </a:xfrm>
          <a:custGeom>
            <a:avLst/>
            <a:gdLst/>
            <a:ahLst/>
            <a:cxnLst/>
            <a:rect r="r" b="b" t="t" l="l"/>
            <a:pathLst>
              <a:path h="2468011" w="2105607">
                <a:moveTo>
                  <a:pt x="0" y="0"/>
                </a:moveTo>
                <a:lnTo>
                  <a:pt x="2105607" y="0"/>
                </a:lnTo>
                <a:lnTo>
                  <a:pt x="2105607" y="2468011"/>
                </a:lnTo>
                <a:lnTo>
                  <a:pt x="0" y="2468011"/>
                </a:lnTo>
                <a:lnTo>
                  <a:pt x="0" y="0"/>
                </a:lnTo>
                <a:close/>
              </a:path>
            </a:pathLst>
          </a:custGeom>
          <a:blipFill>
            <a:blip r:embed="rId6"/>
            <a:stretch>
              <a:fillRect l="-125783" t="-60106" r="-318886" b="-93361"/>
            </a:stretch>
          </a:blipFill>
        </p:spPr>
      </p:sp>
      <p:sp>
        <p:nvSpPr>
          <p:cNvPr name="Freeform 7" id="7"/>
          <p:cNvSpPr/>
          <p:nvPr/>
        </p:nvSpPr>
        <p:spPr>
          <a:xfrm flipH="false" flipV="false" rot="0">
            <a:off x="8163209" y="3680317"/>
            <a:ext cx="1961582" cy="2468011"/>
          </a:xfrm>
          <a:custGeom>
            <a:avLst/>
            <a:gdLst/>
            <a:ahLst/>
            <a:cxnLst/>
            <a:rect r="r" b="b" t="t" l="l"/>
            <a:pathLst>
              <a:path h="2468011" w="1961582">
                <a:moveTo>
                  <a:pt x="0" y="0"/>
                </a:moveTo>
                <a:lnTo>
                  <a:pt x="1961582" y="0"/>
                </a:lnTo>
                <a:lnTo>
                  <a:pt x="1961582" y="2468011"/>
                </a:lnTo>
                <a:lnTo>
                  <a:pt x="0" y="2468011"/>
                </a:lnTo>
                <a:lnTo>
                  <a:pt x="0" y="0"/>
                </a:lnTo>
                <a:close/>
              </a:path>
            </a:pathLst>
          </a:custGeom>
          <a:blipFill>
            <a:blip r:embed="rId6"/>
            <a:stretch>
              <a:fillRect l="-249205" t="-69855" r="-246125" b="-88238"/>
            </a:stretch>
          </a:blipFill>
        </p:spPr>
      </p:sp>
      <p:sp>
        <p:nvSpPr>
          <p:cNvPr name="Freeform 8" id="8"/>
          <p:cNvSpPr/>
          <p:nvPr/>
        </p:nvSpPr>
        <p:spPr>
          <a:xfrm flipH="false" flipV="false" rot="0">
            <a:off x="11444255" y="3680317"/>
            <a:ext cx="2022360" cy="2468011"/>
          </a:xfrm>
          <a:custGeom>
            <a:avLst/>
            <a:gdLst/>
            <a:ahLst/>
            <a:cxnLst/>
            <a:rect r="r" b="b" t="t" l="l"/>
            <a:pathLst>
              <a:path h="2468011" w="2022360">
                <a:moveTo>
                  <a:pt x="0" y="0"/>
                </a:moveTo>
                <a:lnTo>
                  <a:pt x="2022360" y="0"/>
                </a:lnTo>
                <a:lnTo>
                  <a:pt x="2022360" y="2468011"/>
                </a:lnTo>
                <a:lnTo>
                  <a:pt x="0" y="2468011"/>
                </a:lnTo>
                <a:lnTo>
                  <a:pt x="0" y="0"/>
                </a:lnTo>
                <a:close/>
              </a:path>
            </a:pathLst>
          </a:custGeom>
          <a:blipFill>
            <a:blip r:embed="rId6"/>
            <a:stretch>
              <a:fillRect l="-361881" t="-74316" r="-143523" b="-96276"/>
            </a:stretch>
          </a:blipFill>
        </p:spPr>
      </p:sp>
      <p:sp>
        <p:nvSpPr>
          <p:cNvPr name="Freeform 9" id="9"/>
          <p:cNvSpPr/>
          <p:nvPr/>
        </p:nvSpPr>
        <p:spPr>
          <a:xfrm flipH="false" flipV="false" rot="0">
            <a:off x="14786079" y="3680317"/>
            <a:ext cx="2060970" cy="2468011"/>
          </a:xfrm>
          <a:custGeom>
            <a:avLst/>
            <a:gdLst/>
            <a:ahLst/>
            <a:cxnLst/>
            <a:rect r="r" b="b" t="t" l="l"/>
            <a:pathLst>
              <a:path h="2468011" w="2060970">
                <a:moveTo>
                  <a:pt x="0" y="0"/>
                </a:moveTo>
                <a:lnTo>
                  <a:pt x="2060969" y="0"/>
                </a:lnTo>
                <a:lnTo>
                  <a:pt x="2060969" y="2468011"/>
                </a:lnTo>
                <a:lnTo>
                  <a:pt x="0" y="2468011"/>
                </a:lnTo>
                <a:lnTo>
                  <a:pt x="0" y="0"/>
                </a:lnTo>
                <a:close/>
              </a:path>
            </a:pathLst>
          </a:custGeom>
          <a:blipFill>
            <a:blip r:embed="rId6"/>
            <a:stretch>
              <a:fillRect l="-454017" t="-71363" r="-25355" b="-92537"/>
            </a:stretch>
          </a:blipFill>
        </p:spPr>
      </p:sp>
      <p:grpSp>
        <p:nvGrpSpPr>
          <p:cNvPr name="Group 10" id="10"/>
          <p:cNvGrpSpPr/>
          <p:nvPr/>
        </p:nvGrpSpPr>
        <p:grpSpPr>
          <a:xfrm rot="-10800000">
            <a:off x="3854633" y="4631042"/>
            <a:ext cx="687968" cy="566562"/>
            <a:chOff x="0" y="0"/>
            <a:chExt cx="647700" cy="533400"/>
          </a:xfrm>
        </p:grpSpPr>
        <p:sp>
          <p:nvSpPr>
            <p:cNvPr name="Freeform 11" id="11"/>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gradFill rotWithShape="true">
              <a:gsLst>
                <a:gs pos="0">
                  <a:srgbClr val="FA7100">
                    <a:alpha val="100000"/>
                  </a:srgbClr>
                </a:gs>
                <a:gs pos="100000">
                  <a:srgbClr val="FA7100">
                    <a:alpha val="0"/>
                  </a:srgbClr>
                </a:gs>
              </a:gsLst>
              <a:lin ang="0"/>
            </a:gradFill>
          </p:spPr>
        </p:sp>
        <p:sp>
          <p:nvSpPr>
            <p:cNvPr name="TextBox 12" id="12"/>
            <p:cNvSpPr txBox="true"/>
            <p:nvPr/>
          </p:nvSpPr>
          <p:spPr>
            <a:xfrm>
              <a:off x="120650" y="127000"/>
              <a:ext cx="527050" cy="2413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312616" y="663467"/>
            <a:ext cx="7132630" cy="1463580"/>
          </a:xfrm>
          <a:prstGeom prst="rect">
            <a:avLst/>
          </a:prstGeom>
        </p:spPr>
        <p:txBody>
          <a:bodyPr anchor="t" rtlCol="false" tIns="0" lIns="0" bIns="0" rIns="0">
            <a:spAutoFit/>
          </a:bodyPr>
          <a:lstStyle/>
          <a:p>
            <a:pPr algn="ctr">
              <a:lnSpc>
                <a:spcPts val="12054"/>
              </a:lnSpc>
            </a:pPr>
            <a:r>
              <a:rPr lang="en-US" sz="8610" b="true">
                <a:solidFill>
                  <a:srgbClr val="F8FBFC"/>
                </a:solidFill>
                <a:latin typeface="Canva Sans Bold"/>
                <a:ea typeface="Canva Sans Bold"/>
                <a:cs typeface="Canva Sans Bold"/>
                <a:sym typeface="Canva Sans Bold"/>
              </a:rPr>
              <a:t>Methodology</a:t>
            </a:r>
          </a:p>
        </p:txBody>
      </p:sp>
      <p:sp>
        <p:nvSpPr>
          <p:cNvPr name="TextBox 14" id="14"/>
          <p:cNvSpPr txBox="true"/>
          <p:nvPr/>
        </p:nvSpPr>
        <p:spPr>
          <a:xfrm rot="0">
            <a:off x="1502704" y="6556408"/>
            <a:ext cx="2123582" cy="1179195"/>
          </a:xfrm>
          <a:prstGeom prst="rect">
            <a:avLst/>
          </a:prstGeom>
        </p:spPr>
        <p:txBody>
          <a:bodyPr anchor="t" rtlCol="false" tIns="0" lIns="0" bIns="0" rIns="0">
            <a:spAutoFit/>
          </a:bodyPr>
          <a:lstStyle/>
          <a:p>
            <a:pPr algn="ctr">
              <a:lnSpc>
                <a:spcPts val="3090"/>
              </a:lnSpc>
            </a:pPr>
            <a:r>
              <a:rPr lang="en-US" sz="3000" spc="-120">
                <a:solidFill>
                  <a:srgbClr val="F8FBFC"/>
                </a:solidFill>
                <a:latin typeface="Canva Sans"/>
                <a:ea typeface="Canva Sans"/>
                <a:cs typeface="Canva Sans"/>
                <a:sym typeface="Canva Sans"/>
              </a:rPr>
              <a:t>1.</a:t>
            </a:r>
            <a:r>
              <a:rPr lang="en-US" sz="3000" spc="-120">
                <a:solidFill>
                  <a:srgbClr val="F8FBFC"/>
                </a:solidFill>
                <a:latin typeface="Canva Sans"/>
                <a:ea typeface="Canva Sans"/>
                <a:cs typeface="Canva Sans"/>
                <a:sym typeface="Canva Sans"/>
              </a:rPr>
              <a:t> Research and Planning</a:t>
            </a:r>
          </a:p>
        </p:txBody>
      </p:sp>
      <p:sp>
        <p:nvSpPr>
          <p:cNvPr name="TextBox 15" id="15"/>
          <p:cNvSpPr txBox="true"/>
          <p:nvPr/>
        </p:nvSpPr>
        <p:spPr>
          <a:xfrm rot="0">
            <a:off x="4385291" y="6556408"/>
            <a:ext cx="2615399" cy="1179195"/>
          </a:xfrm>
          <a:prstGeom prst="rect">
            <a:avLst/>
          </a:prstGeom>
        </p:spPr>
        <p:txBody>
          <a:bodyPr anchor="t" rtlCol="false" tIns="0" lIns="0" bIns="0" rIns="0">
            <a:spAutoFit/>
          </a:bodyPr>
          <a:lstStyle/>
          <a:p>
            <a:pPr algn="ctr">
              <a:lnSpc>
                <a:spcPts val="3090"/>
              </a:lnSpc>
            </a:pPr>
            <a:r>
              <a:rPr lang="en-US" sz="3000" spc="-120">
                <a:solidFill>
                  <a:srgbClr val="F8FBFC"/>
                </a:solidFill>
                <a:latin typeface="Canva Sans"/>
                <a:ea typeface="Canva Sans"/>
                <a:cs typeface="Canva Sans"/>
                <a:sym typeface="Canva Sans"/>
              </a:rPr>
              <a:t>2.</a:t>
            </a:r>
            <a:r>
              <a:rPr lang="en-US" sz="3000" spc="-120">
                <a:solidFill>
                  <a:srgbClr val="F8FBFC"/>
                </a:solidFill>
                <a:latin typeface="Canva Sans"/>
                <a:ea typeface="Canva Sans"/>
                <a:cs typeface="Canva Sans"/>
                <a:sym typeface="Canva Sans"/>
              </a:rPr>
              <a:t> Procurement of Components</a:t>
            </a:r>
          </a:p>
        </p:txBody>
      </p:sp>
      <p:sp>
        <p:nvSpPr>
          <p:cNvPr name="TextBox 16" id="16"/>
          <p:cNvSpPr txBox="true"/>
          <p:nvPr/>
        </p:nvSpPr>
        <p:spPr>
          <a:xfrm rot="0">
            <a:off x="7703938" y="6588793"/>
            <a:ext cx="2876920" cy="398145"/>
          </a:xfrm>
          <a:prstGeom prst="rect">
            <a:avLst/>
          </a:prstGeom>
        </p:spPr>
        <p:txBody>
          <a:bodyPr anchor="t" rtlCol="false" tIns="0" lIns="0" bIns="0" rIns="0">
            <a:spAutoFit/>
          </a:bodyPr>
          <a:lstStyle/>
          <a:p>
            <a:pPr algn="ctr">
              <a:lnSpc>
                <a:spcPts val="3090"/>
              </a:lnSpc>
            </a:pPr>
            <a:r>
              <a:rPr lang="en-US" sz="3000" spc="-120">
                <a:solidFill>
                  <a:srgbClr val="F8FBFC"/>
                </a:solidFill>
                <a:latin typeface="Canva Sans"/>
                <a:ea typeface="Canva Sans"/>
                <a:cs typeface="Canva Sans"/>
                <a:sym typeface="Canva Sans"/>
              </a:rPr>
              <a:t>3.</a:t>
            </a:r>
            <a:r>
              <a:rPr lang="en-US" sz="3000" spc="-120">
                <a:solidFill>
                  <a:srgbClr val="F8FBFC"/>
                </a:solidFill>
                <a:latin typeface="Canva Sans"/>
                <a:ea typeface="Canva Sans"/>
                <a:cs typeface="Canva Sans"/>
                <a:sym typeface="Canva Sans"/>
              </a:rPr>
              <a:t> System Design</a:t>
            </a:r>
          </a:p>
        </p:txBody>
      </p:sp>
      <p:sp>
        <p:nvSpPr>
          <p:cNvPr name="TextBox 17" id="17"/>
          <p:cNvSpPr txBox="true"/>
          <p:nvPr/>
        </p:nvSpPr>
        <p:spPr>
          <a:xfrm rot="0">
            <a:off x="11284106" y="6588793"/>
            <a:ext cx="2449640" cy="1179195"/>
          </a:xfrm>
          <a:prstGeom prst="rect">
            <a:avLst/>
          </a:prstGeom>
        </p:spPr>
        <p:txBody>
          <a:bodyPr anchor="t" rtlCol="false" tIns="0" lIns="0" bIns="0" rIns="0">
            <a:spAutoFit/>
          </a:bodyPr>
          <a:lstStyle/>
          <a:p>
            <a:pPr algn="ctr">
              <a:lnSpc>
                <a:spcPts val="3090"/>
              </a:lnSpc>
            </a:pPr>
            <a:r>
              <a:rPr lang="en-US" sz="3000" spc="-120">
                <a:solidFill>
                  <a:srgbClr val="F8FBFC"/>
                </a:solidFill>
                <a:latin typeface="Canva Sans"/>
                <a:ea typeface="Canva Sans"/>
                <a:cs typeface="Canva Sans"/>
                <a:sym typeface="Canva Sans"/>
              </a:rPr>
              <a:t>4.</a:t>
            </a:r>
            <a:r>
              <a:rPr lang="en-US" sz="3000" spc="-120">
                <a:solidFill>
                  <a:srgbClr val="F8FBFC"/>
                </a:solidFill>
                <a:latin typeface="Canva Sans"/>
                <a:ea typeface="Canva Sans"/>
                <a:cs typeface="Canva Sans"/>
                <a:sym typeface="Canva Sans"/>
              </a:rPr>
              <a:t> Assembly and Integration</a:t>
            </a:r>
          </a:p>
        </p:txBody>
      </p:sp>
      <p:sp>
        <p:nvSpPr>
          <p:cNvPr name="TextBox 18" id="18"/>
          <p:cNvSpPr txBox="true"/>
          <p:nvPr/>
        </p:nvSpPr>
        <p:spPr>
          <a:xfrm rot="0">
            <a:off x="14786079" y="6556408"/>
            <a:ext cx="2136252" cy="1179195"/>
          </a:xfrm>
          <a:prstGeom prst="rect">
            <a:avLst/>
          </a:prstGeom>
        </p:spPr>
        <p:txBody>
          <a:bodyPr anchor="t" rtlCol="false" tIns="0" lIns="0" bIns="0" rIns="0">
            <a:spAutoFit/>
          </a:bodyPr>
          <a:lstStyle/>
          <a:p>
            <a:pPr algn="ctr">
              <a:lnSpc>
                <a:spcPts val="3090"/>
              </a:lnSpc>
            </a:pPr>
            <a:r>
              <a:rPr lang="en-US" sz="3000" spc="-120">
                <a:solidFill>
                  <a:srgbClr val="F8FBFC"/>
                </a:solidFill>
                <a:latin typeface="Canva Sans"/>
                <a:ea typeface="Canva Sans"/>
                <a:cs typeface="Canva Sans"/>
                <a:sym typeface="Canva Sans"/>
              </a:rPr>
              <a:t>5.</a:t>
            </a:r>
            <a:r>
              <a:rPr lang="en-US" sz="3000" spc="-120">
                <a:solidFill>
                  <a:srgbClr val="F8FBFC"/>
                </a:solidFill>
                <a:latin typeface="Canva Sans"/>
                <a:ea typeface="Canva Sans"/>
                <a:cs typeface="Canva Sans"/>
                <a:sym typeface="Canva Sans"/>
              </a:rPr>
              <a:t> Testing and Evaluation</a:t>
            </a:r>
          </a:p>
        </p:txBody>
      </p:sp>
      <p:grpSp>
        <p:nvGrpSpPr>
          <p:cNvPr name="Group 19" id="19"/>
          <p:cNvGrpSpPr/>
          <p:nvPr/>
        </p:nvGrpSpPr>
        <p:grpSpPr>
          <a:xfrm rot="-10800000">
            <a:off x="7175897" y="4631042"/>
            <a:ext cx="687968" cy="566562"/>
            <a:chOff x="0" y="0"/>
            <a:chExt cx="647700" cy="533400"/>
          </a:xfrm>
        </p:grpSpPr>
        <p:sp>
          <p:nvSpPr>
            <p:cNvPr name="Freeform 20" id="20"/>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gradFill rotWithShape="true">
              <a:gsLst>
                <a:gs pos="0">
                  <a:srgbClr val="FA7100">
                    <a:alpha val="100000"/>
                  </a:srgbClr>
                </a:gs>
                <a:gs pos="100000">
                  <a:srgbClr val="FA7100">
                    <a:alpha val="0"/>
                  </a:srgbClr>
                </a:gs>
              </a:gsLst>
              <a:lin ang="0"/>
            </a:gradFill>
          </p:spPr>
        </p:sp>
        <p:sp>
          <p:nvSpPr>
            <p:cNvPr name="TextBox 21" id="21"/>
            <p:cNvSpPr txBox="true"/>
            <p:nvPr/>
          </p:nvSpPr>
          <p:spPr>
            <a:xfrm>
              <a:off x="120650" y="127000"/>
              <a:ext cx="527050" cy="241300"/>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10800000">
            <a:off x="10440539" y="4631042"/>
            <a:ext cx="687968" cy="566562"/>
            <a:chOff x="0" y="0"/>
            <a:chExt cx="647700" cy="533400"/>
          </a:xfrm>
        </p:grpSpPr>
        <p:sp>
          <p:nvSpPr>
            <p:cNvPr name="Freeform 23" id="23"/>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gradFill rotWithShape="true">
              <a:gsLst>
                <a:gs pos="0">
                  <a:srgbClr val="FA7100">
                    <a:alpha val="100000"/>
                  </a:srgbClr>
                </a:gs>
                <a:gs pos="100000">
                  <a:srgbClr val="FA7100">
                    <a:alpha val="0"/>
                  </a:srgbClr>
                </a:gs>
              </a:gsLst>
              <a:lin ang="0"/>
            </a:gradFill>
          </p:spPr>
        </p:sp>
        <p:sp>
          <p:nvSpPr>
            <p:cNvPr name="TextBox 24" id="24"/>
            <p:cNvSpPr txBox="true"/>
            <p:nvPr/>
          </p:nvSpPr>
          <p:spPr>
            <a:xfrm>
              <a:off x="120650" y="127000"/>
              <a:ext cx="527050" cy="241300"/>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10800000">
            <a:off x="13705181" y="4631042"/>
            <a:ext cx="687968" cy="566562"/>
            <a:chOff x="0" y="0"/>
            <a:chExt cx="647700" cy="533400"/>
          </a:xfrm>
        </p:grpSpPr>
        <p:sp>
          <p:nvSpPr>
            <p:cNvPr name="Freeform 26" id="26"/>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gradFill rotWithShape="true">
              <a:gsLst>
                <a:gs pos="0">
                  <a:srgbClr val="FA7100">
                    <a:alpha val="100000"/>
                  </a:srgbClr>
                </a:gs>
                <a:gs pos="100000">
                  <a:srgbClr val="FA7100">
                    <a:alpha val="0"/>
                  </a:srgbClr>
                </a:gs>
              </a:gsLst>
              <a:lin ang="0"/>
            </a:gradFill>
          </p:spPr>
        </p:sp>
        <p:sp>
          <p:nvSpPr>
            <p:cNvPr name="TextBox 27" id="27"/>
            <p:cNvSpPr txBox="true"/>
            <p:nvPr/>
          </p:nvSpPr>
          <p:spPr>
            <a:xfrm>
              <a:off x="120650" y="127000"/>
              <a:ext cx="527050" cy="2413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046">
                <a:alpha val="100000"/>
              </a:srgbClr>
            </a:gs>
            <a:gs pos="50000">
              <a:srgbClr val="0F4B65">
                <a:alpha val="100000"/>
              </a:srgbClr>
            </a:gs>
            <a:gs pos="100000">
              <a:srgbClr val="226C8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847048" y="1028700"/>
            <a:ext cx="412252" cy="160350"/>
          </a:xfrm>
          <a:custGeom>
            <a:avLst/>
            <a:gdLst/>
            <a:ahLst/>
            <a:cxnLst/>
            <a:rect r="r" b="b" t="t" l="l"/>
            <a:pathLst>
              <a:path h="160350" w="412252">
                <a:moveTo>
                  <a:pt x="0" y="0"/>
                </a:moveTo>
                <a:lnTo>
                  <a:pt x="412252" y="0"/>
                </a:lnTo>
                <a:lnTo>
                  <a:pt x="412252" y="160350"/>
                </a:lnTo>
                <a:lnTo>
                  <a:pt x="0" y="160350"/>
                </a:lnTo>
                <a:lnTo>
                  <a:pt x="0" y="0"/>
                </a:lnTo>
                <a:close/>
              </a:path>
            </a:pathLst>
          </a:custGeom>
          <a:blipFill>
            <a:blip r:embed="rId2">
              <a:extLst>
                <a:ext uri="{96DAC541-7B7A-43D3-8B79-37D633B846F1}">
                  <asvg:svgBlip xmlns:asvg="http://schemas.microsoft.com/office/drawing/2016/SVG/main" r:embed="rId3"/>
                </a:ext>
              </a:extLst>
            </a:blip>
            <a:stretch>
              <a:fillRect l="0" t="0" r="0" b="-71289"/>
            </a:stretch>
          </a:blipFill>
        </p:spPr>
      </p:sp>
      <p:sp>
        <p:nvSpPr>
          <p:cNvPr name="Freeform 3" id="3"/>
          <p:cNvSpPr/>
          <p:nvPr/>
        </p:nvSpPr>
        <p:spPr>
          <a:xfrm flipH="false" flipV="false" rot="0">
            <a:off x="-503979" y="-3625848"/>
            <a:ext cx="11340411" cy="11505792"/>
          </a:xfrm>
          <a:custGeom>
            <a:avLst/>
            <a:gdLst/>
            <a:ahLst/>
            <a:cxnLst/>
            <a:rect r="r" b="b" t="t" l="l"/>
            <a:pathLst>
              <a:path h="11505792" w="11340411">
                <a:moveTo>
                  <a:pt x="0" y="0"/>
                </a:moveTo>
                <a:lnTo>
                  <a:pt x="11340410" y="0"/>
                </a:lnTo>
                <a:lnTo>
                  <a:pt x="11340410" y="11505791"/>
                </a:lnTo>
                <a:lnTo>
                  <a:pt x="0" y="11505791"/>
                </a:lnTo>
                <a:lnTo>
                  <a:pt x="0" y="0"/>
                </a:lnTo>
                <a:close/>
              </a:path>
            </a:pathLst>
          </a:custGeom>
          <a:blipFill>
            <a:blip r:embed="rId4">
              <a:alphaModFix amt="9999"/>
            </a:blip>
            <a:stretch>
              <a:fillRect l="0" t="0" r="0" b="0"/>
            </a:stretch>
          </a:blipFill>
        </p:spPr>
      </p:sp>
      <p:sp>
        <p:nvSpPr>
          <p:cNvPr name="Freeform 4" id="4"/>
          <p:cNvSpPr/>
          <p:nvPr/>
        </p:nvSpPr>
        <p:spPr>
          <a:xfrm flipH="false" flipV="false" rot="0">
            <a:off x="8021215" y="-763063"/>
            <a:ext cx="14336308" cy="12414412"/>
          </a:xfrm>
          <a:custGeom>
            <a:avLst/>
            <a:gdLst/>
            <a:ahLst/>
            <a:cxnLst/>
            <a:rect r="r" b="b" t="t" l="l"/>
            <a:pathLst>
              <a:path h="12414412" w="14336308">
                <a:moveTo>
                  <a:pt x="0" y="0"/>
                </a:moveTo>
                <a:lnTo>
                  <a:pt x="14336308" y="0"/>
                </a:lnTo>
                <a:lnTo>
                  <a:pt x="14336308" y="12414412"/>
                </a:lnTo>
                <a:lnTo>
                  <a:pt x="0" y="12414412"/>
                </a:lnTo>
                <a:lnTo>
                  <a:pt x="0" y="0"/>
                </a:lnTo>
                <a:close/>
              </a:path>
            </a:pathLst>
          </a:custGeom>
          <a:blipFill>
            <a:blip r:embed="rId5">
              <a:alphaModFix amt="19999"/>
            </a:blip>
            <a:stretch>
              <a:fillRect l="0" t="0" r="0" b="0"/>
            </a:stretch>
          </a:blipFill>
        </p:spPr>
      </p:sp>
      <p:sp>
        <p:nvSpPr>
          <p:cNvPr name="TextBox 5" id="5"/>
          <p:cNvSpPr txBox="true"/>
          <p:nvPr/>
        </p:nvSpPr>
        <p:spPr>
          <a:xfrm rot="0">
            <a:off x="1583003" y="663467"/>
            <a:ext cx="3917768" cy="1463580"/>
          </a:xfrm>
          <a:prstGeom prst="rect">
            <a:avLst/>
          </a:prstGeom>
        </p:spPr>
        <p:txBody>
          <a:bodyPr anchor="t" rtlCol="false" tIns="0" lIns="0" bIns="0" rIns="0">
            <a:spAutoFit/>
          </a:bodyPr>
          <a:lstStyle/>
          <a:p>
            <a:pPr algn="ctr">
              <a:lnSpc>
                <a:spcPts val="12054"/>
              </a:lnSpc>
            </a:pPr>
            <a:r>
              <a:rPr lang="en-US" sz="8610" b="true">
                <a:solidFill>
                  <a:srgbClr val="F8FBFC"/>
                </a:solidFill>
                <a:latin typeface="Canva Sans Bold"/>
                <a:ea typeface="Canva Sans Bold"/>
                <a:cs typeface="Canva Sans Bold"/>
                <a:sym typeface="Canva Sans Bold"/>
              </a:rPr>
              <a:t>Results</a:t>
            </a:r>
          </a:p>
        </p:txBody>
      </p:sp>
      <p:sp>
        <p:nvSpPr>
          <p:cNvPr name="Freeform 6" id="6"/>
          <p:cNvSpPr/>
          <p:nvPr/>
        </p:nvSpPr>
        <p:spPr>
          <a:xfrm flipH="false" flipV="false" rot="0">
            <a:off x="1934790" y="3970336"/>
            <a:ext cx="14418420" cy="5142820"/>
          </a:xfrm>
          <a:custGeom>
            <a:avLst/>
            <a:gdLst/>
            <a:ahLst/>
            <a:cxnLst/>
            <a:rect r="r" b="b" t="t" l="l"/>
            <a:pathLst>
              <a:path h="5142820" w="14418420">
                <a:moveTo>
                  <a:pt x="0" y="0"/>
                </a:moveTo>
                <a:lnTo>
                  <a:pt x="14418420" y="0"/>
                </a:lnTo>
                <a:lnTo>
                  <a:pt x="14418420" y="5142820"/>
                </a:lnTo>
                <a:lnTo>
                  <a:pt x="0" y="5142820"/>
                </a:lnTo>
                <a:lnTo>
                  <a:pt x="0" y="0"/>
                </a:lnTo>
                <a:close/>
              </a:path>
            </a:pathLst>
          </a:custGeom>
          <a:blipFill>
            <a:blip r:embed="rId6"/>
            <a:stretch>
              <a:fillRect l="0" t="-3032" r="0" b="0"/>
            </a:stretch>
          </a:blipFill>
        </p:spPr>
      </p:sp>
      <p:sp>
        <p:nvSpPr>
          <p:cNvPr name="TextBox 7" id="7"/>
          <p:cNvSpPr txBox="true"/>
          <p:nvPr/>
        </p:nvSpPr>
        <p:spPr>
          <a:xfrm rot="0">
            <a:off x="1910588" y="2725736"/>
            <a:ext cx="14117675" cy="587375"/>
          </a:xfrm>
          <a:prstGeom prst="rect">
            <a:avLst/>
          </a:prstGeom>
        </p:spPr>
        <p:txBody>
          <a:bodyPr anchor="t" rtlCol="false" tIns="0" lIns="0" bIns="0" rIns="0">
            <a:spAutoFit/>
          </a:bodyPr>
          <a:lstStyle/>
          <a:p>
            <a:pPr algn="ctr">
              <a:lnSpc>
                <a:spcPts val="4899"/>
              </a:lnSpc>
            </a:pPr>
            <a:r>
              <a:rPr lang="en-US" sz="3499">
                <a:solidFill>
                  <a:srgbClr val="F8FBFC"/>
                </a:solidFill>
                <a:latin typeface="Canva Sans"/>
                <a:ea typeface="Canva Sans"/>
                <a:cs typeface="Canva Sans"/>
                <a:sym typeface="Canva Sans"/>
              </a:rPr>
              <a:t>Table</a:t>
            </a:r>
            <a:r>
              <a:rPr lang="en-US" sz="3499">
                <a:solidFill>
                  <a:srgbClr val="F8FBFC"/>
                </a:solidFill>
                <a:latin typeface="Canva Sans"/>
                <a:ea typeface="Canva Sans"/>
                <a:cs typeface="Canva Sans"/>
                <a:sym typeface="Canva Sans"/>
              </a:rPr>
              <a:t> 1. Evaluation in Consistency of the Prototype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046">
                <a:alpha val="100000"/>
              </a:srgbClr>
            </a:gs>
            <a:gs pos="50000">
              <a:srgbClr val="0F4B65">
                <a:alpha val="100000"/>
              </a:srgbClr>
            </a:gs>
            <a:gs pos="100000">
              <a:srgbClr val="226C8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847048" y="1028700"/>
            <a:ext cx="412252" cy="160350"/>
          </a:xfrm>
          <a:custGeom>
            <a:avLst/>
            <a:gdLst/>
            <a:ahLst/>
            <a:cxnLst/>
            <a:rect r="r" b="b" t="t" l="l"/>
            <a:pathLst>
              <a:path h="160350" w="412252">
                <a:moveTo>
                  <a:pt x="0" y="0"/>
                </a:moveTo>
                <a:lnTo>
                  <a:pt x="412252" y="0"/>
                </a:lnTo>
                <a:lnTo>
                  <a:pt x="412252" y="160350"/>
                </a:lnTo>
                <a:lnTo>
                  <a:pt x="0" y="160350"/>
                </a:lnTo>
                <a:lnTo>
                  <a:pt x="0" y="0"/>
                </a:lnTo>
                <a:close/>
              </a:path>
            </a:pathLst>
          </a:custGeom>
          <a:blipFill>
            <a:blip r:embed="rId2">
              <a:extLst>
                <a:ext uri="{96DAC541-7B7A-43D3-8B79-37D633B846F1}">
                  <asvg:svgBlip xmlns:asvg="http://schemas.microsoft.com/office/drawing/2016/SVG/main" r:embed="rId3"/>
                </a:ext>
              </a:extLst>
            </a:blip>
            <a:stretch>
              <a:fillRect l="0" t="0" r="0" b="-71289"/>
            </a:stretch>
          </a:blipFill>
        </p:spPr>
      </p:sp>
      <p:sp>
        <p:nvSpPr>
          <p:cNvPr name="Freeform 3" id="3"/>
          <p:cNvSpPr/>
          <p:nvPr/>
        </p:nvSpPr>
        <p:spPr>
          <a:xfrm flipH="false" flipV="false" rot="0">
            <a:off x="-503979" y="-3625848"/>
            <a:ext cx="11340411" cy="11505792"/>
          </a:xfrm>
          <a:custGeom>
            <a:avLst/>
            <a:gdLst/>
            <a:ahLst/>
            <a:cxnLst/>
            <a:rect r="r" b="b" t="t" l="l"/>
            <a:pathLst>
              <a:path h="11505792" w="11340411">
                <a:moveTo>
                  <a:pt x="0" y="0"/>
                </a:moveTo>
                <a:lnTo>
                  <a:pt x="11340410" y="0"/>
                </a:lnTo>
                <a:lnTo>
                  <a:pt x="11340410" y="11505791"/>
                </a:lnTo>
                <a:lnTo>
                  <a:pt x="0" y="11505791"/>
                </a:lnTo>
                <a:lnTo>
                  <a:pt x="0" y="0"/>
                </a:lnTo>
                <a:close/>
              </a:path>
            </a:pathLst>
          </a:custGeom>
          <a:blipFill>
            <a:blip r:embed="rId4">
              <a:alphaModFix amt="9999"/>
            </a:blip>
            <a:stretch>
              <a:fillRect l="0" t="0" r="0" b="0"/>
            </a:stretch>
          </a:blipFill>
        </p:spPr>
      </p:sp>
      <p:sp>
        <p:nvSpPr>
          <p:cNvPr name="Freeform 4" id="4"/>
          <p:cNvSpPr/>
          <p:nvPr/>
        </p:nvSpPr>
        <p:spPr>
          <a:xfrm flipH="false" flipV="false" rot="0">
            <a:off x="8021215" y="-763063"/>
            <a:ext cx="14336308" cy="12414412"/>
          </a:xfrm>
          <a:custGeom>
            <a:avLst/>
            <a:gdLst/>
            <a:ahLst/>
            <a:cxnLst/>
            <a:rect r="r" b="b" t="t" l="l"/>
            <a:pathLst>
              <a:path h="12414412" w="14336308">
                <a:moveTo>
                  <a:pt x="0" y="0"/>
                </a:moveTo>
                <a:lnTo>
                  <a:pt x="14336308" y="0"/>
                </a:lnTo>
                <a:lnTo>
                  <a:pt x="14336308" y="12414412"/>
                </a:lnTo>
                <a:lnTo>
                  <a:pt x="0" y="12414412"/>
                </a:lnTo>
                <a:lnTo>
                  <a:pt x="0" y="0"/>
                </a:lnTo>
                <a:close/>
              </a:path>
            </a:pathLst>
          </a:custGeom>
          <a:blipFill>
            <a:blip r:embed="rId5">
              <a:alphaModFix amt="19999"/>
            </a:blip>
            <a:stretch>
              <a:fillRect l="0" t="0" r="0" b="0"/>
            </a:stretch>
          </a:blipFill>
        </p:spPr>
      </p:sp>
      <p:sp>
        <p:nvSpPr>
          <p:cNvPr name="TextBox 5" id="5"/>
          <p:cNvSpPr txBox="true"/>
          <p:nvPr/>
        </p:nvSpPr>
        <p:spPr>
          <a:xfrm rot="0">
            <a:off x="1502612" y="876300"/>
            <a:ext cx="3917768" cy="1463580"/>
          </a:xfrm>
          <a:prstGeom prst="rect">
            <a:avLst/>
          </a:prstGeom>
        </p:spPr>
        <p:txBody>
          <a:bodyPr anchor="t" rtlCol="false" tIns="0" lIns="0" bIns="0" rIns="0">
            <a:spAutoFit/>
          </a:bodyPr>
          <a:lstStyle/>
          <a:p>
            <a:pPr algn="ctr">
              <a:lnSpc>
                <a:spcPts val="12054"/>
              </a:lnSpc>
            </a:pPr>
            <a:r>
              <a:rPr lang="en-US" sz="8610" b="true">
                <a:solidFill>
                  <a:srgbClr val="F8FBFC"/>
                </a:solidFill>
                <a:latin typeface="Canva Sans Bold"/>
                <a:ea typeface="Canva Sans Bold"/>
                <a:cs typeface="Canva Sans Bold"/>
                <a:sym typeface="Canva Sans Bold"/>
              </a:rPr>
              <a:t>Results</a:t>
            </a:r>
          </a:p>
        </p:txBody>
      </p:sp>
      <p:sp>
        <p:nvSpPr>
          <p:cNvPr name="Freeform 6" id="6"/>
          <p:cNvSpPr/>
          <p:nvPr/>
        </p:nvSpPr>
        <p:spPr>
          <a:xfrm flipH="false" flipV="false" rot="0">
            <a:off x="5710276" y="3755062"/>
            <a:ext cx="6867448" cy="5503238"/>
          </a:xfrm>
          <a:custGeom>
            <a:avLst/>
            <a:gdLst/>
            <a:ahLst/>
            <a:cxnLst/>
            <a:rect r="r" b="b" t="t" l="l"/>
            <a:pathLst>
              <a:path h="5503238" w="6867448">
                <a:moveTo>
                  <a:pt x="0" y="0"/>
                </a:moveTo>
                <a:lnTo>
                  <a:pt x="6867448" y="0"/>
                </a:lnTo>
                <a:lnTo>
                  <a:pt x="6867448" y="5503238"/>
                </a:lnTo>
                <a:lnTo>
                  <a:pt x="0" y="5503238"/>
                </a:lnTo>
                <a:lnTo>
                  <a:pt x="0" y="0"/>
                </a:lnTo>
                <a:close/>
              </a:path>
            </a:pathLst>
          </a:custGeom>
          <a:blipFill>
            <a:blip r:embed="rId6"/>
            <a:stretch>
              <a:fillRect l="0" t="-5148" r="0" b="0"/>
            </a:stretch>
          </a:blipFill>
        </p:spPr>
      </p:sp>
      <p:sp>
        <p:nvSpPr>
          <p:cNvPr name="TextBox 7" id="7"/>
          <p:cNvSpPr txBox="true"/>
          <p:nvPr/>
        </p:nvSpPr>
        <p:spPr>
          <a:xfrm rot="0">
            <a:off x="3981056" y="2841979"/>
            <a:ext cx="10325887" cy="587375"/>
          </a:xfrm>
          <a:prstGeom prst="rect">
            <a:avLst/>
          </a:prstGeom>
        </p:spPr>
        <p:txBody>
          <a:bodyPr anchor="t" rtlCol="false" tIns="0" lIns="0" bIns="0" rIns="0">
            <a:spAutoFit/>
          </a:bodyPr>
          <a:lstStyle/>
          <a:p>
            <a:pPr algn="ctr">
              <a:lnSpc>
                <a:spcPts val="4899"/>
              </a:lnSpc>
            </a:pPr>
            <a:r>
              <a:rPr lang="en-US" sz="3499">
                <a:solidFill>
                  <a:srgbClr val="F8FBFC"/>
                </a:solidFill>
                <a:latin typeface="Canva Sans"/>
                <a:ea typeface="Canva Sans"/>
                <a:cs typeface="Canva Sans"/>
                <a:sym typeface="Canva Sans"/>
              </a:rPr>
              <a:t>Table</a:t>
            </a:r>
            <a:r>
              <a:rPr lang="en-US" sz="3499">
                <a:solidFill>
                  <a:srgbClr val="F8FBFC"/>
                </a:solidFill>
                <a:latin typeface="Canva Sans"/>
                <a:ea typeface="Canva Sans"/>
                <a:cs typeface="Canva Sans"/>
                <a:sym typeface="Canva Sans"/>
              </a:rPr>
              <a:t> 2. Evaluation Results of the Respondents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046">
                <a:alpha val="100000"/>
              </a:srgbClr>
            </a:gs>
            <a:gs pos="50000">
              <a:srgbClr val="0F4B65">
                <a:alpha val="100000"/>
              </a:srgbClr>
            </a:gs>
            <a:gs pos="100000">
              <a:srgbClr val="226C8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847048" y="1028700"/>
            <a:ext cx="412252" cy="160350"/>
          </a:xfrm>
          <a:custGeom>
            <a:avLst/>
            <a:gdLst/>
            <a:ahLst/>
            <a:cxnLst/>
            <a:rect r="r" b="b" t="t" l="l"/>
            <a:pathLst>
              <a:path h="160350" w="412252">
                <a:moveTo>
                  <a:pt x="0" y="0"/>
                </a:moveTo>
                <a:lnTo>
                  <a:pt x="412252" y="0"/>
                </a:lnTo>
                <a:lnTo>
                  <a:pt x="412252" y="160350"/>
                </a:lnTo>
                <a:lnTo>
                  <a:pt x="0" y="160350"/>
                </a:lnTo>
                <a:lnTo>
                  <a:pt x="0" y="0"/>
                </a:lnTo>
                <a:close/>
              </a:path>
            </a:pathLst>
          </a:custGeom>
          <a:blipFill>
            <a:blip r:embed="rId2">
              <a:extLst>
                <a:ext uri="{96DAC541-7B7A-43D3-8B79-37D633B846F1}">
                  <asvg:svgBlip xmlns:asvg="http://schemas.microsoft.com/office/drawing/2016/SVG/main" r:embed="rId3"/>
                </a:ext>
              </a:extLst>
            </a:blip>
            <a:stretch>
              <a:fillRect l="0" t="0" r="0" b="-71289"/>
            </a:stretch>
          </a:blipFill>
        </p:spPr>
      </p:sp>
      <p:sp>
        <p:nvSpPr>
          <p:cNvPr name="Freeform 3" id="3"/>
          <p:cNvSpPr/>
          <p:nvPr/>
        </p:nvSpPr>
        <p:spPr>
          <a:xfrm flipH="false" flipV="false" rot="0">
            <a:off x="-503979" y="-3625848"/>
            <a:ext cx="11340411" cy="11505792"/>
          </a:xfrm>
          <a:custGeom>
            <a:avLst/>
            <a:gdLst/>
            <a:ahLst/>
            <a:cxnLst/>
            <a:rect r="r" b="b" t="t" l="l"/>
            <a:pathLst>
              <a:path h="11505792" w="11340411">
                <a:moveTo>
                  <a:pt x="0" y="0"/>
                </a:moveTo>
                <a:lnTo>
                  <a:pt x="11340410" y="0"/>
                </a:lnTo>
                <a:lnTo>
                  <a:pt x="11340410" y="11505791"/>
                </a:lnTo>
                <a:lnTo>
                  <a:pt x="0" y="11505791"/>
                </a:lnTo>
                <a:lnTo>
                  <a:pt x="0" y="0"/>
                </a:lnTo>
                <a:close/>
              </a:path>
            </a:pathLst>
          </a:custGeom>
          <a:blipFill>
            <a:blip r:embed="rId4">
              <a:alphaModFix amt="9999"/>
            </a:blip>
            <a:stretch>
              <a:fillRect l="0" t="0" r="0" b="0"/>
            </a:stretch>
          </a:blipFill>
        </p:spPr>
      </p:sp>
      <p:sp>
        <p:nvSpPr>
          <p:cNvPr name="Freeform 4" id="4"/>
          <p:cNvSpPr/>
          <p:nvPr/>
        </p:nvSpPr>
        <p:spPr>
          <a:xfrm flipH="false" flipV="false" rot="0">
            <a:off x="8021215" y="-763063"/>
            <a:ext cx="14336308" cy="12414412"/>
          </a:xfrm>
          <a:custGeom>
            <a:avLst/>
            <a:gdLst/>
            <a:ahLst/>
            <a:cxnLst/>
            <a:rect r="r" b="b" t="t" l="l"/>
            <a:pathLst>
              <a:path h="12414412" w="14336308">
                <a:moveTo>
                  <a:pt x="0" y="0"/>
                </a:moveTo>
                <a:lnTo>
                  <a:pt x="14336308" y="0"/>
                </a:lnTo>
                <a:lnTo>
                  <a:pt x="14336308" y="12414412"/>
                </a:lnTo>
                <a:lnTo>
                  <a:pt x="0" y="12414412"/>
                </a:lnTo>
                <a:lnTo>
                  <a:pt x="0" y="0"/>
                </a:lnTo>
                <a:close/>
              </a:path>
            </a:pathLst>
          </a:custGeom>
          <a:blipFill>
            <a:blip r:embed="rId5">
              <a:alphaModFix amt="19999"/>
            </a:blip>
            <a:stretch>
              <a:fillRect l="0" t="0" r="0" b="0"/>
            </a:stretch>
          </a:blipFill>
        </p:spPr>
      </p:sp>
      <p:sp>
        <p:nvSpPr>
          <p:cNvPr name="TextBox 5" id="5"/>
          <p:cNvSpPr txBox="true"/>
          <p:nvPr/>
        </p:nvSpPr>
        <p:spPr>
          <a:xfrm rot="0">
            <a:off x="1263073" y="1036650"/>
            <a:ext cx="5759939" cy="1463580"/>
          </a:xfrm>
          <a:prstGeom prst="rect">
            <a:avLst/>
          </a:prstGeom>
        </p:spPr>
        <p:txBody>
          <a:bodyPr anchor="t" rtlCol="false" tIns="0" lIns="0" bIns="0" rIns="0">
            <a:spAutoFit/>
          </a:bodyPr>
          <a:lstStyle/>
          <a:p>
            <a:pPr algn="ctr">
              <a:lnSpc>
                <a:spcPts val="12054"/>
              </a:lnSpc>
            </a:pPr>
            <a:r>
              <a:rPr lang="en-US" sz="8610" b="true">
                <a:solidFill>
                  <a:srgbClr val="F8FBFC"/>
                </a:solidFill>
                <a:latin typeface="Canva Sans Bold"/>
                <a:ea typeface="Canva Sans Bold"/>
                <a:cs typeface="Canva Sans Bold"/>
                <a:sym typeface="Canva Sans Bold"/>
              </a:rPr>
              <a:t>Discussion</a:t>
            </a:r>
          </a:p>
        </p:txBody>
      </p:sp>
      <p:sp>
        <p:nvSpPr>
          <p:cNvPr name="TextBox 6" id="6"/>
          <p:cNvSpPr txBox="true"/>
          <p:nvPr/>
        </p:nvSpPr>
        <p:spPr>
          <a:xfrm rot="0">
            <a:off x="1352012" y="3622702"/>
            <a:ext cx="15583976" cy="4235704"/>
          </a:xfrm>
          <a:prstGeom prst="rect">
            <a:avLst/>
          </a:prstGeom>
        </p:spPr>
        <p:txBody>
          <a:bodyPr anchor="t" rtlCol="false" tIns="0" lIns="0" bIns="0" rIns="0">
            <a:spAutoFit/>
          </a:bodyPr>
          <a:lstStyle/>
          <a:p>
            <a:pPr algn="just">
              <a:lnSpc>
                <a:spcPts val="5677"/>
              </a:lnSpc>
            </a:pPr>
            <a:r>
              <a:rPr lang="en-US" sz="3399" spc="169">
                <a:solidFill>
                  <a:srgbClr val="F8FBFC"/>
                </a:solidFill>
                <a:latin typeface="Canva Sans"/>
                <a:ea typeface="Canva Sans"/>
                <a:cs typeface="Canva Sans"/>
                <a:sym typeface="Canva Sans"/>
              </a:rPr>
              <a:t>The prototype achieve</a:t>
            </a:r>
            <a:r>
              <a:rPr lang="en-US" sz="3399" spc="169">
                <a:solidFill>
                  <a:srgbClr val="F8FBFC"/>
                </a:solidFill>
                <a:latin typeface="Canva Sans"/>
                <a:ea typeface="Canva Sans"/>
                <a:cs typeface="Canva Sans"/>
                <a:sym typeface="Canva Sans"/>
              </a:rPr>
              <a:t>d 80% system stability, with most trials successfully completing detection, weighing, computation, and barcode printing. It also received high evaluation ratings in usability, functionality, and reliability, indicating strong performance and user acceptance. </a:t>
            </a:r>
          </a:p>
          <a:p>
            <a:pPr algn="just">
              <a:lnSpc>
                <a:spcPts val="5677"/>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046">
                <a:alpha val="100000"/>
              </a:srgbClr>
            </a:gs>
            <a:gs pos="50000">
              <a:srgbClr val="0F4B65">
                <a:alpha val="100000"/>
              </a:srgbClr>
            </a:gs>
            <a:gs pos="100000">
              <a:srgbClr val="226C8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847048" y="1028700"/>
            <a:ext cx="412252" cy="160350"/>
          </a:xfrm>
          <a:custGeom>
            <a:avLst/>
            <a:gdLst/>
            <a:ahLst/>
            <a:cxnLst/>
            <a:rect r="r" b="b" t="t" l="l"/>
            <a:pathLst>
              <a:path h="160350" w="412252">
                <a:moveTo>
                  <a:pt x="0" y="0"/>
                </a:moveTo>
                <a:lnTo>
                  <a:pt x="412252" y="0"/>
                </a:lnTo>
                <a:lnTo>
                  <a:pt x="412252" y="160350"/>
                </a:lnTo>
                <a:lnTo>
                  <a:pt x="0" y="160350"/>
                </a:lnTo>
                <a:lnTo>
                  <a:pt x="0" y="0"/>
                </a:lnTo>
                <a:close/>
              </a:path>
            </a:pathLst>
          </a:custGeom>
          <a:blipFill>
            <a:blip r:embed="rId2">
              <a:extLst>
                <a:ext uri="{96DAC541-7B7A-43D3-8B79-37D633B846F1}">
                  <asvg:svgBlip xmlns:asvg="http://schemas.microsoft.com/office/drawing/2016/SVG/main" r:embed="rId3"/>
                </a:ext>
              </a:extLst>
            </a:blip>
            <a:stretch>
              <a:fillRect l="0" t="0" r="0" b="-71289"/>
            </a:stretch>
          </a:blipFill>
        </p:spPr>
      </p:sp>
      <p:sp>
        <p:nvSpPr>
          <p:cNvPr name="Freeform 3" id="3"/>
          <p:cNvSpPr/>
          <p:nvPr/>
        </p:nvSpPr>
        <p:spPr>
          <a:xfrm flipH="false" flipV="false" rot="0">
            <a:off x="-503979" y="-3625848"/>
            <a:ext cx="11340411" cy="11505792"/>
          </a:xfrm>
          <a:custGeom>
            <a:avLst/>
            <a:gdLst/>
            <a:ahLst/>
            <a:cxnLst/>
            <a:rect r="r" b="b" t="t" l="l"/>
            <a:pathLst>
              <a:path h="11505792" w="11340411">
                <a:moveTo>
                  <a:pt x="0" y="0"/>
                </a:moveTo>
                <a:lnTo>
                  <a:pt x="11340410" y="0"/>
                </a:lnTo>
                <a:lnTo>
                  <a:pt x="11340410" y="11505791"/>
                </a:lnTo>
                <a:lnTo>
                  <a:pt x="0" y="11505791"/>
                </a:lnTo>
                <a:lnTo>
                  <a:pt x="0" y="0"/>
                </a:lnTo>
                <a:close/>
              </a:path>
            </a:pathLst>
          </a:custGeom>
          <a:blipFill>
            <a:blip r:embed="rId4">
              <a:alphaModFix amt="9999"/>
            </a:blip>
            <a:stretch>
              <a:fillRect l="0" t="0" r="0" b="0"/>
            </a:stretch>
          </a:blipFill>
        </p:spPr>
      </p:sp>
      <p:sp>
        <p:nvSpPr>
          <p:cNvPr name="Freeform 4" id="4"/>
          <p:cNvSpPr/>
          <p:nvPr/>
        </p:nvSpPr>
        <p:spPr>
          <a:xfrm flipH="false" flipV="false" rot="0">
            <a:off x="8021215" y="-763063"/>
            <a:ext cx="14336308" cy="12414412"/>
          </a:xfrm>
          <a:custGeom>
            <a:avLst/>
            <a:gdLst/>
            <a:ahLst/>
            <a:cxnLst/>
            <a:rect r="r" b="b" t="t" l="l"/>
            <a:pathLst>
              <a:path h="12414412" w="14336308">
                <a:moveTo>
                  <a:pt x="0" y="0"/>
                </a:moveTo>
                <a:lnTo>
                  <a:pt x="14336308" y="0"/>
                </a:lnTo>
                <a:lnTo>
                  <a:pt x="14336308" y="12414412"/>
                </a:lnTo>
                <a:lnTo>
                  <a:pt x="0" y="12414412"/>
                </a:lnTo>
                <a:lnTo>
                  <a:pt x="0" y="0"/>
                </a:lnTo>
                <a:close/>
              </a:path>
            </a:pathLst>
          </a:custGeom>
          <a:blipFill>
            <a:blip r:embed="rId5">
              <a:alphaModFix amt="19999"/>
            </a:blip>
            <a:stretch>
              <a:fillRect l="0" t="0" r="0" b="0"/>
            </a:stretch>
          </a:blipFill>
        </p:spPr>
      </p:sp>
      <p:sp>
        <p:nvSpPr>
          <p:cNvPr name="TextBox 5" id="5"/>
          <p:cNvSpPr txBox="true"/>
          <p:nvPr/>
        </p:nvSpPr>
        <p:spPr>
          <a:xfrm rot="0">
            <a:off x="1469710" y="1109652"/>
            <a:ext cx="10049542" cy="2086139"/>
          </a:xfrm>
          <a:prstGeom prst="rect">
            <a:avLst/>
          </a:prstGeom>
        </p:spPr>
        <p:txBody>
          <a:bodyPr anchor="t" rtlCol="false" tIns="0" lIns="0" bIns="0" rIns="0">
            <a:spAutoFit/>
          </a:bodyPr>
          <a:lstStyle/>
          <a:p>
            <a:pPr algn="l">
              <a:lnSpc>
                <a:spcPts val="8111"/>
              </a:lnSpc>
            </a:pPr>
            <a:r>
              <a:rPr lang="en-US" sz="7510" spc="157" b="true">
                <a:solidFill>
                  <a:srgbClr val="F8FBFC"/>
                </a:solidFill>
                <a:latin typeface="Canva Sans Bold"/>
                <a:ea typeface="Canva Sans Bold"/>
                <a:cs typeface="Canva Sans Bold"/>
                <a:sym typeface="Canva Sans Bold"/>
              </a:rPr>
              <a:t>Conclusion and Recommendation</a:t>
            </a:r>
          </a:p>
        </p:txBody>
      </p:sp>
      <p:sp>
        <p:nvSpPr>
          <p:cNvPr name="TextBox 6" id="6"/>
          <p:cNvSpPr txBox="true"/>
          <p:nvPr/>
        </p:nvSpPr>
        <p:spPr>
          <a:xfrm rot="0">
            <a:off x="1354229" y="3922547"/>
            <a:ext cx="15698945" cy="5148199"/>
          </a:xfrm>
          <a:prstGeom prst="rect">
            <a:avLst/>
          </a:prstGeom>
        </p:spPr>
        <p:txBody>
          <a:bodyPr anchor="t" rtlCol="false" tIns="0" lIns="0" bIns="0" rIns="0">
            <a:spAutoFit/>
          </a:bodyPr>
          <a:lstStyle/>
          <a:p>
            <a:pPr algn="just">
              <a:lnSpc>
                <a:spcPts val="5167"/>
              </a:lnSpc>
            </a:pPr>
            <a:r>
              <a:rPr lang="en-US" sz="3399">
                <a:solidFill>
                  <a:srgbClr val="F8FBFC"/>
                </a:solidFill>
                <a:latin typeface="Canva Sans"/>
                <a:ea typeface="Canva Sans"/>
                <a:cs typeface="Canva Sans"/>
                <a:sym typeface="Canva Sans"/>
              </a:rPr>
              <a:t>The study concludes that the develope</a:t>
            </a:r>
            <a:r>
              <a:rPr lang="en-US" sz="3399">
                <a:solidFill>
                  <a:srgbClr val="F8FBFC"/>
                </a:solidFill>
                <a:latin typeface="Canva Sans"/>
                <a:ea typeface="Canva Sans"/>
                <a:cs typeface="Canva Sans"/>
                <a:sym typeface="Canva Sans"/>
              </a:rPr>
              <a:t>d automated vegetable classification, weighing, and labeling system is functional, reliable, and effective for self-service retail. Using Raspberry Pi and Edge Impulse, it achieved accurate detection, pricing, barcode generation, and packaging. Future improvements are recommended in dataset expansion, lighting and weighing stability, hardware enhancement, and cloud-based or multi-terminal integration for more efficient and scalable retail operations.</a:t>
            </a:r>
          </a:p>
          <a:p>
            <a:pPr algn="just">
              <a:lnSpc>
                <a:spcPts val="5167"/>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DAHKw02cHrY</dc:identifier>
  <dcterms:modified xsi:type="dcterms:W3CDTF">2011-08-01T06:04:30Z</dcterms:modified>
  <cp:revision>1</cp:revision>
  <dc:title>JeKaCa PPT Colloquium</dc:title>
</cp:coreProperties>
</file>